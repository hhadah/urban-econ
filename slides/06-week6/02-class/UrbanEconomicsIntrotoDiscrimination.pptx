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2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073"/>
    <p:restoredTop sz="94719"/>
  </p:normalViewPr>
  <p:slideViewPr>
    <p:cSldViewPr snapToGrid="0">
      <p:cViewPr varScale="1">
        <p:scale>
          <a:sx n="148" d="100"/>
          <a:sy n="148" d="100"/>
        </p:scale>
        <p:origin x="101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2"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en-US" sz="3800" b="0" strike="noStrike" spc="-1">
                <a:solidFill>
                  <a:srgbClr val="000000"/>
                </a:solidFill>
                <a:latin typeface="Calibri"/>
              </a:rPr>
              <a:t>Click to move the slide</a:t>
            </a:r>
          </a:p>
        </p:txBody>
      </p:sp>
      <p:sp>
        <p:nvSpPr>
          <p:cNvPr id="83"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marL="216000" indent="0">
              <a:buNone/>
            </a:pPr>
            <a:r>
              <a:rPr lang="en-US" sz="2000" b="0" strike="noStrike" spc="-1">
                <a:solidFill>
                  <a:srgbClr val="000000"/>
                </a:solidFill>
                <a:latin typeface="Arial"/>
              </a:rPr>
              <a:t>Click to edit the notes format</a:t>
            </a:r>
          </a:p>
        </p:txBody>
      </p:sp>
      <p:sp>
        <p:nvSpPr>
          <p:cNvPr id="84"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85" name="PlaceHolder 4"/>
          <p:cNvSpPr>
            <a:spLocks noGrp="1"/>
          </p:cNvSpPr>
          <p:nvPr>
            <p:ph type="dt" idx="5"/>
          </p:nvPr>
        </p:nvSpPr>
        <p:spPr>
          <a:xfrm>
            <a:off x="4399200" y="0"/>
            <a:ext cx="3372840" cy="50256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86" name="PlaceHolder 5"/>
          <p:cNvSpPr>
            <a:spLocks noGrp="1"/>
          </p:cNvSpPr>
          <p:nvPr>
            <p:ph type="ftr" idx="6"/>
          </p:nvPr>
        </p:nvSpPr>
        <p:spPr>
          <a:xfrm>
            <a:off x="0" y="9555480"/>
            <a:ext cx="3372840" cy="50256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87" name="PlaceHolder 6"/>
          <p:cNvSpPr>
            <a:spLocks noGrp="1"/>
          </p:cNvSpPr>
          <p:nvPr>
            <p:ph type="sldNum" idx="7"/>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9F2042CC-11B2-441D-A735-A1848AC55C49}"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PlaceHolder 1"/>
          <p:cNvSpPr>
            <a:spLocks noGrp="1" noRot="1" noChangeAspect="1"/>
          </p:cNvSpPr>
          <p:nvPr>
            <p:ph type="sldImg"/>
          </p:nvPr>
        </p:nvSpPr>
        <p:spPr>
          <a:xfrm>
            <a:off x="685800" y="1143000"/>
            <a:ext cx="5486040" cy="3085920"/>
          </a:xfrm>
          <a:prstGeom prst="rect">
            <a:avLst/>
          </a:prstGeom>
          <a:ln w="0">
            <a:noFill/>
          </a:ln>
        </p:spPr>
      </p:sp>
      <p:sp>
        <p:nvSpPr>
          <p:cNvPr id="142" name="PlaceHolder 2"/>
          <p:cNvSpPr>
            <a:spLocks noGrp="1"/>
          </p:cNvSpPr>
          <p:nvPr>
            <p:ph type="body"/>
          </p:nvPr>
        </p:nvSpPr>
        <p:spPr>
          <a:xfrm>
            <a:off x="685800" y="4400640"/>
            <a:ext cx="5486040" cy="3600000"/>
          </a:xfrm>
          <a:prstGeom prst="rect">
            <a:avLst/>
          </a:prstGeom>
          <a:noFill/>
          <a:ln w="0">
            <a:noFill/>
          </a:ln>
        </p:spPr>
        <p:txBody>
          <a:bodyPr numCol="1" spcCol="0" anchor="t">
            <a:noAutofit/>
          </a:bodyPr>
          <a:lstStyle/>
          <a:p>
            <a:pPr marL="216000" indent="0">
              <a:buNone/>
            </a:pPr>
            <a:endParaRPr lang="en-US" sz="1800" b="0" strike="noStrike" spc="-1">
              <a:solidFill>
                <a:srgbClr val="000000"/>
              </a:solidFill>
              <a:latin typeface="Arial"/>
            </a:endParaRPr>
          </a:p>
        </p:txBody>
      </p:sp>
      <p:sp>
        <p:nvSpPr>
          <p:cNvPr id="143" name="PlaceHolder 3"/>
          <p:cNvSpPr>
            <a:spLocks noGrp="1"/>
          </p:cNvSpPr>
          <p:nvPr>
            <p:ph type="sldNum" idx="8"/>
          </p:nvPr>
        </p:nvSpPr>
        <p:spPr>
          <a:xfrm>
            <a:off x="3884760" y="8685360"/>
            <a:ext cx="2971440" cy="458280"/>
          </a:xfrm>
          <a:prstGeom prst="rect">
            <a:avLst/>
          </a:prstGeom>
          <a:noFill/>
          <a:ln w="0">
            <a:noFill/>
          </a:ln>
        </p:spPr>
        <p:txBody>
          <a:bodyPr numCol="1" spcCol="0" anchor="b">
            <a:noAutofit/>
          </a:bodyPr>
          <a:lstStyle>
            <a:lvl1pPr indent="0" algn="r">
              <a:lnSpc>
                <a:spcPct val="100000"/>
              </a:lnSpc>
              <a:buNone/>
              <a:defRPr lang="en-US" sz="1200" b="0" strike="noStrike" spc="-1">
                <a:solidFill>
                  <a:srgbClr val="000000"/>
                </a:solidFill>
                <a:latin typeface="Calibri"/>
              </a:defRPr>
            </a:lvl1pPr>
          </a:lstStyle>
          <a:p>
            <a:pPr indent="0" algn="r">
              <a:lnSpc>
                <a:spcPct val="100000"/>
              </a:lnSpc>
              <a:buNone/>
            </a:pPr>
            <a:fld id="{18E6D8C3-5A9F-4A67-BDB0-FD98E79BD8F8}" type="slidenum">
              <a:rPr lang="en-US" sz="1200" b="0" strike="noStrike" spc="-1">
                <a:solidFill>
                  <a:srgbClr val="000000"/>
                </a:solidFill>
                <a:latin typeface="Calibri"/>
              </a:rPr>
              <a:t>1</a:t>
            </a:fld>
            <a:endParaRPr lang="en-US"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1"/>
          </p:nvPr>
        </p:nvSpPr>
        <p:spPr/>
        <p:txBody>
          <a:bodyPr/>
          <a:lstStyle/>
          <a:p>
            <a:fld id="{879F9E97-AC34-4701-9130-5F3434F66B68}"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6" name="PlaceHolder 2"/>
          <p:cNvSpPr>
            <a:spLocks noGrp="1"/>
          </p:cNvSpPr>
          <p:nvPr>
            <p:ph type="subTitle"/>
          </p:nvPr>
        </p:nvSpPr>
        <p:spPr>
          <a:xfrm>
            <a:off x="838080" y="1825560"/>
            <a:ext cx="10515240" cy="435096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1"/>
          </p:nvPr>
        </p:nvSpPr>
        <p:spPr/>
        <p:txBody>
          <a:bodyPr/>
          <a:lstStyle/>
          <a:p>
            <a:fld id="{1CBF03C6-5684-4F56-84ED-270BFEE346A6}"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8"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1"/>
          </p:nvPr>
        </p:nvSpPr>
        <p:spPr/>
        <p:txBody>
          <a:bodyPr/>
          <a:lstStyle/>
          <a:p>
            <a:fld id="{3AF64F81-48D7-4402-81C7-FB7D0A56FDC0}"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10"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11"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1"/>
          </p:nvPr>
        </p:nvSpPr>
        <p:spPr/>
        <p:txBody>
          <a:bodyPr/>
          <a:lstStyle/>
          <a:p>
            <a:fld id="{6EB012E7-62ED-4DBA-BB2B-C7BB11C3B910}"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1"/>
          </p:nvPr>
        </p:nvSpPr>
        <p:spPr/>
        <p:txBody>
          <a:bodyPr/>
          <a:lstStyle/>
          <a:p>
            <a:fld id="{9A720704-FFB4-4C91-BFFD-C823F6BFFD3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1"/>
          </p:nvPr>
        </p:nvSpPr>
        <p:spPr/>
        <p:txBody>
          <a:bodyPr/>
          <a:lstStyle/>
          <a:p>
            <a:fld id="{93248647-E82B-464C-B316-89B7328F542B}"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15"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16"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17"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1"/>
          </p:nvPr>
        </p:nvSpPr>
        <p:spPr/>
        <p:txBody>
          <a:bodyPr/>
          <a:lstStyle/>
          <a:p>
            <a:fld id="{5FE119E3-34E6-4969-A391-BD591DA871AE}"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19"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20"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21" name="PlaceHolder 4"/>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1"/>
          </p:nvPr>
        </p:nvSpPr>
        <p:spPr/>
        <p:txBody>
          <a:bodyPr/>
          <a:lstStyle/>
          <a:p>
            <a:fld id="{F4688C2D-9BC5-4898-AAAA-7CFFE8C0F6D7}"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23"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24"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25" name="PlaceHolder 4"/>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1"/>
          </p:nvPr>
        </p:nvSpPr>
        <p:spPr/>
        <p:txBody>
          <a:bodyPr/>
          <a:lstStyle/>
          <a:p>
            <a:fld id="{0E5D9B72-BF86-4DA9-A8AE-CF0117EF8ADE}"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27" name="PlaceHolder 2"/>
          <p:cNvSpPr>
            <a:spLocks noGrp="1"/>
          </p:cNvSpPr>
          <p:nvPr>
            <p:ph/>
          </p:nvPr>
        </p:nvSpPr>
        <p:spPr>
          <a:xfrm>
            <a:off x="838080" y="182556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28" name="PlaceHolder 3"/>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1"/>
          </p:nvPr>
        </p:nvSpPr>
        <p:spPr/>
        <p:txBody>
          <a:bodyPr/>
          <a:lstStyle/>
          <a:p>
            <a:fld id="{1CB2F005-AFC1-4162-A249-E9CD29BA8DC9}"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30"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31"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32"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33" name="PlaceHolder 5"/>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1"/>
          </p:nvPr>
        </p:nvSpPr>
        <p:spPr/>
        <p:txBody>
          <a:bodyPr/>
          <a:lstStyle/>
          <a:p>
            <a:fld id="{1A289560-C06A-46E7-B8A9-1289EDE32313}"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35" name="PlaceHolder 2"/>
          <p:cNvSpPr>
            <a:spLocks noGrp="1"/>
          </p:cNvSpPr>
          <p:nvPr>
            <p:ph/>
          </p:nvPr>
        </p:nvSpPr>
        <p:spPr>
          <a:xfrm>
            <a:off x="83808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36" name="PlaceHolder 3"/>
          <p:cNvSpPr>
            <a:spLocks noGrp="1"/>
          </p:cNvSpPr>
          <p:nvPr>
            <p:ph/>
          </p:nvPr>
        </p:nvSpPr>
        <p:spPr>
          <a:xfrm>
            <a:off x="439344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37" name="PlaceHolder 4"/>
          <p:cNvSpPr>
            <a:spLocks noGrp="1"/>
          </p:cNvSpPr>
          <p:nvPr>
            <p:ph/>
          </p:nvPr>
        </p:nvSpPr>
        <p:spPr>
          <a:xfrm>
            <a:off x="794916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38" name="PlaceHolder 5"/>
          <p:cNvSpPr>
            <a:spLocks noGrp="1"/>
          </p:cNvSpPr>
          <p:nvPr>
            <p:ph/>
          </p:nvPr>
        </p:nvSpPr>
        <p:spPr>
          <a:xfrm>
            <a:off x="83808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39" name="PlaceHolder 6"/>
          <p:cNvSpPr>
            <a:spLocks noGrp="1"/>
          </p:cNvSpPr>
          <p:nvPr>
            <p:ph/>
          </p:nvPr>
        </p:nvSpPr>
        <p:spPr>
          <a:xfrm>
            <a:off x="439344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40" name="PlaceHolder 7"/>
          <p:cNvSpPr>
            <a:spLocks noGrp="1"/>
          </p:cNvSpPr>
          <p:nvPr>
            <p:ph/>
          </p:nvPr>
        </p:nvSpPr>
        <p:spPr>
          <a:xfrm>
            <a:off x="794916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1"/>
          </p:nvPr>
        </p:nvSpPr>
        <p:spPr/>
        <p:txBody>
          <a:bodyPr/>
          <a:lstStyle/>
          <a:p>
            <a:fld id="{04EF4C93-4DB9-48C9-BEB2-4458A0306EBE}"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3"/>
          </p:nvPr>
        </p:nvSpPr>
        <p:spPr/>
        <p:txBody>
          <a:bodyPr/>
          <a:lstStyle/>
          <a:p>
            <a:fld id="{3F949A5F-0FD5-4ABB-942D-2950100476B0}"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47" name="PlaceHolder 2"/>
          <p:cNvSpPr>
            <a:spLocks noGrp="1"/>
          </p:cNvSpPr>
          <p:nvPr>
            <p:ph type="subTitle"/>
          </p:nvPr>
        </p:nvSpPr>
        <p:spPr>
          <a:xfrm>
            <a:off x="838080" y="1825560"/>
            <a:ext cx="10515240" cy="435096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3"/>
          </p:nvPr>
        </p:nvSpPr>
        <p:spPr/>
        <p:txBody>
          <a:bodyPr/>
          <a:lstStyle/>
          <a:p>
            <a:fld id="{8F24CF87-3F1C-47F7-9614-99D5331767BF}"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49"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3"/>
          </p:nvPr>
        </p:nvSpPr>
        <p:spPr/>
        <p:txBody>
          <a:bodyPr/>
          <a:lstStyle/>
          <a:p>
            <a:fld id="{25571BE8-FEBD-429A-B23C-A0944F8D67E2}"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51"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52"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3"/>
          </p:nvPr>
        </p:nvSpPr>
        <p:spPr/>
        <p:txBody>
          <a:bodyPr/>
          <a:lstStyle/>
          <a:p>
            <a:fld id="{1962E12A-6346-4649-A587-0BD9F250F9D4}"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3"/>
          </p:nvPr>
        </p:nvSpPr>
        <p:spPr/>
        <p:txBody>
          <a:bodyPr/>
          <a:lstStyle/>
          <a:p>
            <a:fld id="{77E1A237-F8A2-4BE2-902D-38AA291F2483}" type="slidenum">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838080" y="365040"/>
            <a:ext cx="10515240" cy="614412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3"/>
          </p:nvPr>
        </p:nvSpPr>
        <p:spPr/>
        <p:txBody>
          <a:bodyPr/>
          <a:lstStyle/>
          <a:p>
            <a:fld id="{D60D97C4-4781-4F0F-89E0-6E4E320DF791}" type="slidenum">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56"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57"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58"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3"/>
          </p:nvPr>
        </p:nvSpPr>
        <p:spPr/>
        <p:txBody>
          <a:bodyPr/>
          <a:lstStyle/>
          <a:p>
            <a:fld id="{C8F5A616-D2A2-401E-A578-142F11C92D6A}"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60"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61"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62" name="PlaceHolder 4"/>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3"/>
          </p:nvPr>
        </p:nvSpPr>
        <p:spPr/>
        <p:txBody>
          <a:bodyPr/>
          <a:lstStyle/>
          <a:p>
            <a:fld id="{22891106-EA89-4809-91FA-67D0019C17A6}" type="slidenum">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64"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65"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66" name="PlaceHolder 4"/>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3"/>
          </p:nvPr>
        </p:nvSpPr>
        <p:spPr/>
        <p:txBody>
          <a:bodyPr/>
          <a:lstStyle/>
          <a:p>
            <a:fld id="{45FBA0D2-D43F-4146-9871-9A3621607781}" type="slidenum">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68" name="PlaceHolder 2"/>
          <p:cNvSpPr>
            <a:spLocks noGrp="1"/>
          </p:cNvSpPr>
          <p:nvPr>
            <p:ph/>
          </p:nvPr>
        </p:nvSpPr>
        <p:spPr>
          <a:xfrm>
            <a:off x="838080" y="182556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69" name="PlaceHolder 3"/>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3"/>
          </p:nvPr>
        </p:nvSpPr>
        <p:spPr/>
        <p:txBody>
          <a:bodyPr/>
          <a:lstStyle/>
          <a:p>
            <a:fld id="{E89D522D-9315-4804-97FC-2EF3FF2057CB}" type="slidenum">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71"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72"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73"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74" name="PlaceHolder 5"/>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7" name="PlaceHolder 6"/>
          <p:cNvSpPr>
            <a:spLocks noGrp="1"/>
          </p:cNvSpPr>
          <p:nvPr>
            <p:ph type="ftr" idx="4"/>
          </p:nvPr>
        </p:nvSpPr>
        <p:spPr/>
        <p:txBody>
          <a:bodyPr/>
          <a:lstStyle/>
          <a:p>
            <a:r>
              <a:t>Footer</a:t>
            </a:r>
          </a:p>
        </p:txBody>
      </p:sp>
      <p:sp>
        <p:nvSpPr>
          <p:cNvPr id="8" name="PlaceHolder 7"/>
          <p:cNvSpPr>
            <a:spLocks noGrp="1"/>
          </p:cNvSpPr>
          <p:nvPr>
            <p:ph type="sldNum" idx="3"/>
          </p:nvPr>
        </p:nvSpPr>
        <p:spPr/>
        <p:txBody>
          <a:bodyPr/>
          <a:lstStyle/>
          <a:p>
            <a:fld id="{F7284B54-9FD5-40B1-81B0-60F40B8618A5}" type="slidenum">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3800" b="0" strike="noStrike" spc="-1">
              <a:solidFill>
                <a:srgbClr val="000000"/>
              </a:solidFill>
              <a:latin typeface="Calibri"/>
            </a:endParaRPr>
          </a:p>
        </p:txBody>
      </p:sp>
      <p:sp>
        <p:nvSpPr>
          <p:cNvPr id="76" name="PlaceHolder 2"/>
          <p:cNvSpPr>
            <a:spLocks noGrp="1"/>
          </p:cNvSpPr>
          <p:nvPr>
            <p:ph/>
          </p:nvPr>
        </p:nvSpPr>
        <p:spPr>
          <a:xfrm>
            <a:off x="83808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77" name="PlaceHolder 3"/>
          <p:cNvSpPr>
            <a:spLocks noGrp="1"/>
          </p:cNvSpPr>
          <p:nvPr>
            <p:ph/>
          </p:nvPr>
        </p:nvSpPr>
        <p:spPr>
          <a:xfrm>
            <a:off x="439344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78" name="PlaceHolder 4"/>
          <p:cNvSpPr>
            <a:spLocks noGrp="1"/>
          </p:cNvSpPr>
          <p:nvPr>
            <p:ph/>
          </p:nvPr>
        </p:nvSpPr>
        <p:spPr>
          <a:xfrm>
            <a:off x="794916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79" name="PlaceHolder 5"/>
          <p:cNvSpPr>
            <a:spLocks noGrp="1"/>
          </p:cNvSpPr>
          <p:nvPr>
            <p:ph/>
          </p:nvPr>
        </p:nvSpPr>
        <p:spPr>
          <a:xfrm>
            <a:off x="83808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80" name="PlaceHolder 6"/>
          <p:cNvSpPr>
            <a:spLocks noGrp="1"/>
          </p:cNvSpPr>
          <p:nvPr>
            <p:ph/>
          </p:nvPr>
        </p:nvSpPr>
        <p:spPr>
          <a:xfrm>
            <a:off x="439344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81" name="PlaceHolder 7"/>
          <p:cNvSpPr>
            <a:spLocks noGrp="1"/>
          </p:cNvSpPr>
          <p:nvPr>
            <p:ph/>
          </p:nvPr>
        </p:nvSpPr>
        <p:spPr>
          <a:xfrm>
            <a:off x="794916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404040"/>
              </a:solidFill>
              <a:latin typeface="Century Gothic"/>
            </a:endParaRPr>
          </a:p>
        </p:txBody>
      </p:sp>
      <p:sp>
        <p:nvSpPr>
          <p:cNvPr id="9" name="PlaceHolder 8"/>
          <p:cNvSpPr>
            <a:spLocks noGrp="1"/>
          </p:cNvSpPr>
          <p:nvPr>
            <p:ph type="ftr" idx="4"/>
          </p:nvPr>
        </p:nvSpPr>
        <p:spPr/>
        <p:txBody>
          <a:bodyPr/>
          <a:lstStyle/>
          <a:p>
            <a:r>
              <a:t>Footer</a:t>
            </a:r>
          </a:p>
        </p:txBody>
      </p:sp>
      <p:sp>
        <p:nvSpPr>
          <p:cNvPr id="10" name="PlaceHolder 9"/>
          <p:cNvSpPr>
            <a:spLocks noGrp="1"/>
          </p:cNvSpPr>
          <p:nvPr>
            <p:ph type="sldNum" idx="3"/>
          </p:nvPr>
        </p:nvSpPr>
        <p:spPr/>
        <p:txBody>
          <a:bodyPr/>
          <a:lstStyle/>
          <a:p>
            <a:fld id="{C2CE65E0-6D20-4909-82B2-42AF359C1AA5}"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w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2.wmf"/><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pic>
        <p:nvPicPr>
          <p:cNvPr id="5" name="Picture 6"/>
          <p:cNvPicPr/>
          <p:nvPr/>
        </p:nvPicPr>
        <p:blipFill>
          <a:blip r:embed="rId15"/>
          <a:stretch/>
        </p:blipFill>
        <p:spPr>
          <a:xfrm>
            <a:off x="909720" y="6218280"/>
            <a:ext cx="1296720" cy="375840"/>
          </a:xfrm>
          <a:prstGeom prst="rect">
            <a:avLst/>
          </a:prstGeom>
          <a:ln w="0">
            <a:noFill/>
          </a:ln>
        </p:spPr>
      </p:pic>
      <p:sp>
        <p:nvSpPr>
          <p:cNvPr id="6" name="PlaceHolder 1"/>
          <p:cNvSpPr>
            <a:spLocks noGrp="1"/>
          </p:cNvSpPr>
          <p:nvPr>
            <p:ph type="sldNum" idx="1"/>
          </p:nvPr>
        </p:nvSpPr>
        <p:spPr>
          <a:xfrm>
            <a:off x="10415520" y="6356520"/>
            <a:ext cx="937800" cy="364680"/>
          </a:xfrm>
          <a:prstGeom prst="rect">
            <a:avLst/>
          </a:prstGeom>
          <a:noFill/>
          <a:ln w="0">
            <a:noFill/>
          </a:ln>
        </p:spPr>
        <p:txBody>
          <a:bodyPr numCol="1" spcCol="0" anchor="ctr">
            <a:noAutofit/>
          </a:bodyPr>
          <a:lstStyle>
            <a:lvl1pPr indent="0" algn="r">
              <a:lnSpc>
                <a:spcPct val="100000"/>
              </a:lnSpc>
              <a:buNone/>
              <a:defRPr lang="en-US" sz="1000" b="0" strike="noStrike" spc="-1">
                <a:solidFill>
                  <a:srgbClr val="FFFFFF"/>
                </a:solidFill>
                <a:latin typeface="Century Gothic"/>
              </a:defRPr>
            </a:lvl1pPr>
          </a:lstStyle>
          <a:p>
            <a:pPr indent="0" algn="r">
              <a:lnSpc>
                <a:spcPct val="100000"/>
              </a:lnSpc>
              <a:buNone/>
            </a:pPr>
            <a:fld id="{4B7F546A-608C-4C87-AD84-E3211A62F6AD}" type="slidenum">
              <a:rPr lang="en-US" sz="1000" b="0" strike="noStrike" spc="-1">
                <a:solidFill>
                  <a:srgbClr val="FFFFFF"/>
                </a:solidFill>
                <a:latin typeface="Century Gothic"/>
              </a:rPr>
              <a:t>‹#›</a:t>
            </a:fld>
            <a:endParaRPr lang="en-US" sz="1000" b="0" strike="noStrike" spc="-1">
              <a:solidFill>
                <a:srgbClr val="000000"/>
              </a:solidFill>
              <a:latin typeface="Times New Roman"/>
            </a:endParaRPr>
          </a:p>
        </p:txBody>
      </p:sp>
      <p:sp>
        <p:nvSpPr>
          <p:cNvPr id="2" name="PlaceHolder 2"/>
          <p:cNvSpPr>
            <a:spLocks noGrp="1"/>
          </p:cNvSpPr>
          <p:nvPr>
            <p:ph type="ftr" idx="2"/>
          </p:nvPr>
        </p:nvSpPr>
        <p:spPr>
          <a:xfrm>
            <a:off x="2313000" y="6356520"/>
            <a:ext cx="7370280" cy="364680"/>
          </a:xfrm>
          <a:prstGeom prst="rect">
            <a:avLst/>
          </a:prstGeom>
          <a:noFill/>
          <a:ln w="0">
            <a:noFill/>
          </a:ln>
        </p:spPr>
        <p:txBody>
          <a:bodyPr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3" name="PlaceHolder 3"/>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3800" b="0" strike="noStrike" spc="-1">
                <a:solidFill>
                  <a:srgbClr val="000000"/>
                </a:solidFill>
                <a:latin typeface="Calibri"/>
              </a:rPr>
              <a:t>Click to edit the title text format</a:t>
            </a:r>
          </a:p>
        </p:txBody>
      </p:sp>
      <p:sp>
        <p:nvSpPr>
          <p:cNvPr id="4" name="PlaceHolder 4"/>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strike="noStrike" spc="-1">
                <a:solidFill>
                  <a:srgbClr val="404040"/>
                </a:solidFill>
                <a:latin typeface="Century Gothic"/>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strike="noStrike" spc="-1">
                <a:solidFill>
                  <a:srgbClr val="404040"/>
                </a:solidFill>
                <a:latin typeface="Century Gothic"/>
              </a:rPr>
              <a:t>Second Outline Level</a:t>
            </a:r>
          </a:p>
          <a:p>
            <a:pPr marL="1296000" lvl="2" indent="-288000">
              <a:lnSpc>
                <a:spcPct val="90000"/>
              </a:lnSpc>
              <a:spcBef>
                <a:spcPts val="850"/>
              </a:spcBef>
              <a:buClr>
                <a:srgbClr val="000000"/>
              </a:buClr>
              <a:buSzPct val="45000"/>
              <a:buFont typeface="Wingdings" charset="2"/>
              <a:buChar char=""/>
            </a:pPr>
            <a:r>
              <a:rPr lang="en-US" sz="1800" b="0" strike="noStrike" spc="-1">
                <a:solidFill>
                  <a:srgbClr val="404040"/>
                </a:solidFill>
                <a:latin typeface="Century Gothic"/>
              </a:rPr>
              <a:t>Third Outline Level</a:t>
            </a:r>
          </a:p>
          <a:p>
            <a:pPr marL="1728000" lvl="3" indent="-216000">
              <a:lnSpc>
                <a:spcPct val="90000"/>
              </a:lnSpc>
              <a:spcBef>
                <a:spcPts val="567"/>
              </a:spcBef>
              <a:buClr>
                <a:srgbClr val="000000"/>
              </a:buClr>
              <a:buSzPct val="75000"/>
              <a:buFont typeface="Symbol" charset="2"/>
              <a:buChar char=""/>
            </a:pPr>
            <a:r>
              <a:rPr lang="en-US" sz="1800" b="0" strike="noStrike" spc="-1">
                <a:solidFill>
                  <a:srgbClr val="404040"/>
                </a:solidFill>
                <a:latin typeface="Century Gothic"/>
              </a:rPr>
              <a:t>Fourth Outline Level</a:t>
            </a:r>
          </a:p>
          <a:p>
            <a:pPr marL="2160000" lvl="4" indent="-216000">
              <a:lnSpc>
                <a:spcPct val="90000"/>
              </a:lnSpc>
              <a:spcBef>
                <a:spcPts val="283"/>
              </a:spcBef>
              <a:buClr>
                <a:srgbClr val="000000"/>
              </a:buClr>
              <a:buSzPct val="45000"/>
              <a:buFont typeface="Wingdings" charset="2"/>
              <a:buChar char=""/>
            </a:pPr>
            <a:r>
              <a:rPr lang="en-US" sz="2000" b="0" strike="noStrike" spc="-1">
                <a:solidFill>
                  <a:srgbClr val="404040"/>
                </a:solidFill>
                <a:latin typeface="Century Gothic"/>
              </a:rPr>
              <a:t>Fifth Outline Level</a:t>
            </a:r>
          </a:p>
          <a:p>
            <a:pPr marL="2592000" lvl="5" indent="-216000">
              <a:lnSpc>
                <a:spcPct val="90000"/>
              </a:lnSpc>
              <a:spcBef>
                <a:spcPts val="283"/>
              </a:spcBef>
              <a:buClr>
                <a:srgbClr val="000000"/>
              </a:buClr>
              <a:buSzPct val="45000"/>
              <a:buFont typeface="Wingdings" charset="2"/>
              <a:buChar char=""/>
            </a:pPr>
            <a:r>
              <a:rPr lang="en-US" sz="2000" b="0" strike="noStrike" spc="-1">
                <a:solidFill>
                  <a:srgbClr val="404040"/>
                </a:solidFill>
                <a:latin typeface="Century Gothic"/>
              </a:rPr>
              <a:t>Sixth Outline Level</a:t>
            </a:r>
          </a:p>
          <a:p>
            <a:pPr marL="3024000" lvl="6" indent="-216000">
              <a:lnSpc>
                <a:spcPct val="90000"/>
              </a:lnSpc>
              <a:spcBef>
                <a:spcPts val="283"/>
              </a:spcBef>
              <a:buClr>
                <a:srgbClr val="000000"/>
              </a:buClr>
              <a:buSzPct val="45000"/>
              <a:buFont typeface="Wingdings" charset="2"/>
              <a:buChar char=""/>
            </a:pPr>
            <a:r>
              <a:rPr lang="en-US" sz="2000" b="0" strike="noStrike" spc="-1">
                <a:solidFill>
                  <a:srgbClr val="404040"/>
                </a:solidFill>
                <a:latin typeface="Century Gothic"/>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pic>
        <p:nvPicPr>
          <p:cNvPr id="41" name="Picture 6"/>
          <p:cNvPicPr/>
          <p:nvPr/>
        </p:nvPicPr>
        <p:blipFill>
          <a:blip r:embed="rId15"/>
          <a:stretch/>
        </p:blipFill>
        <p:spPr>
          <a:xfrm>
            <a:off x="909720" y="6218280"/>
            <a:ext cx="1296720" cy="375840"/>
          </a:xfrm>
          <a:prstGeom prst="rect">
            <a:avLst/>
          </a:prstGeom>
          <a:ln w="0">
            <a:noFill/>
          </a:ln>
        </p:spPr>
      </p:pic>
      <p:sp>
        <p:nvSpPr>
          <p:cNvPr id="42"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Click to edit Master title style</a:t>
            </a:r>
            <a:endParaRPr lang="en-US" sz="3800" b="0" strike="noStrike" spc="-1">
              <a:solidFill>
                <a:srgbClr val="000000"/>
              </a:solidFill>
              <a:latin typeface="Calibri"/>
            </a:endParaRPr>
          </a:p>
        </p:txBody>
      </p:sp>
      <p:sp>
        <p:nvSpPr>
          <p:cNvPr id="43" name="PlaceHolder 2"/>
          <p:cNvSpPr>
            <a:spLocks noGrp="1"/>
          </p:cNvSpPr>
          <p:nvPr>
            <p:ph type="body"/>
          </p:nvPr>
        </p:nvSpPr>
        <p:spPr>
          <a:xfrm>
            <a:off x="838080" y="18255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Click to edit Master text styles</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Second level</a:t>
            </a:r>
          </a:p>
          <a:p>
            <a:pPr marL="1143000" lvl="2" indent="-228600">
              <a:lnSpc>
                <a:spcPct val="90000"/>
              </a:lnSpc>
              <a:spcBef>
                <a:spcPts val="499"/>
              </a:spcBef>
              <a:buClr>
                <a:srgbClr val="404040"/>
              </a:buClr>
              <a:buFont typeface="Arial"/>
              <a:buChar char="•"/>
            </a:pPr>
            <a:r>
              <a:rPr lang="en-US" sz="1800" b="0" strike="noStrike" spc="-1">
                <a:solidFill>
                  <a:srgbClr val="404040"/>
                </a:solidFill>
                <a:latin typeface="Century Gothic"/>
              </a:rPr>
              <a:t>Third level</a:t>
            </a:r>
          </a:p>
          <a:p>
            <a:pPr marL="1600200" lvl="3" indent="-228600">
              <a:lnSpc>
                <a:spcPct val="90000"/>
              </a:lnSpc>
              <a:spcBef>
                <a:spcPts val="499"/>
              </a:spcBef>
              <a:buClr>
                <a:srgbClr val="404040"/>
              </a:buClr>
              <a:buFont typeface="Arial"/>
              <a:buChar char="•"/>
            </a:pPr>
            <a:r>
              <a:rPr lang="en-US" sz="1600" b="0" strike="noStrike" spc="-1">
                <a:solidFill>
                  <a:srgbClr val="404040"/>
                </a:solidFill>
                <a:latin typeface="Century Gothic"/>
              </a:rPr>
              <a:t>Fourth level</a:t>
            </a:r>
          </a:p>
          <a:p>
            <a:pPr marL="2057400" lvl="4" indent="-228600">
              <a:lnSpc>
                <a:spcPct val="90000"/>
              </a:lnSpc>
              <a:spcBef>
                <a:spcPts val="499"/>
              </a:spcBef>
              <a:buClr>
                <a:srgbClr val="404040"/>
              </a:buClr>
              <a:buFont typeface="Arial"/>
              <a:buChar char="•"/>
            </a:pPr>
            <a:r>
              <a:rPr lang="en-US" sz="1600" b="0" strike="noStrike" spc="-1">
                <a:solidFill>
                  <a:srgbClr val="404040"/>
                </a:solidFill>
                <a:latin typeface="Century Gothic"/>
              </a:rPr>
              <a:t>Fifth level</a:t>
            </a:r>
          </a:p>
        </p:txBody>
      </p:sp>
      <p:sp>
        <p:nvSpPr>
          <p:cNvPr id="44" name="PlaceHolder 3"/>
          <p:cNvSpPr>
            <a:spLocks noGrp="1"/>
          </p:cNvSpPr>
          <p:nvPr>
            <p:ph type="sldNum" idx="3"/>
          </p:nvPr>
        </p:nvSpPr>
        <p:spPr>
          <a:xfrm>
            <a:off x="10415520" y="6356520"/>
            <a:ext cx="937800" cy="364680"/>
          </a:xfrm>
          <a:prstGeom prst="rect">
            <a:avLst/>
          </a:prstGeom>
          <a:noFill/>
          <a:ln w="0">
            <a:noFill/>
          </a:ln>
        </p:spPr>
        <p:txBody>
          <a:bodyPr numCol="1" spcCol="0" anchor="ctr">
            <a:noAutofit/>
          </a:bodyPr>
          <a:lstStyle>
            <a:lvl1pPr indent="0" algn="r">
              <a:lnSpc>
                <a:spcPct val="100000"/>
              </a:lnSpc>
              <a:buNone/>
              <a:defRPr lang="en-US" sz="1000" b="0" strike="noStrike" spc="-1">
                <a:solidFill>
                  <a:srgbClr val="FFFFFF"/>
                </a:solidFill>
                <a:latin typeface="Century Gothic"/>
              </a:defRPr>
            </a:lvl1pPr>
          </a:lstStyle>
          <a:p>
            <a:pPr indent="0" algn="r">
              <a:lnSpc>
                <a:spcPct val="100000"/>
              </a:lnSpc>
              <a:buNone/>
            </a:pPr>
            <a:fld id="{7576B517-5F38-4F95-992E-50DB230AEACD}" type="slidenum">
              <a:rPr lang="en-US" sz="1000" b="0" strike="noStrike" spc="-1">
                <a:solidFill>
                  <a:srgbClr val="FFFFFF"/>
                </a:solidFill>
                <a:latin typeface="Century Gothic"/>
              </a:rPr>
              <a:t>‹#›</a:t>
            </a:fld>
            <a:endParaRPr lang="en-US" sz="1000" b="0" strike="noStrike" spc="-1">
              <a:solidFill>
                <a:srgbClr val="000000"/>
              </a:solidFill>
              <a:latin typeface="Times New Roman"/>
            </a:endParaRPr>
          </a:p>
        </p:txBody>
      </p:sp>
      <p:sp>
        <p:nvSpPr>
          <p:cNvPr id="45" name="PlaceHolder 4"/>
          <p:cNvSpPr>
            <a:spLocks noGrp="1"/>
          </p:cNvSpPr>
          <p:nvPr>
            <p:ph type="ftr" idx="4"/>
          </p:nvPr>
        </p:nvSpPr>
        <p:spPr>
          <a:xfrm>
            <a:off x="2313000" y="6356520"/>
            <a:ext cx="7370280" cy="364680"/>
          </a:xfrm>
          <a:prstGeom prst="rect">
            <a:avLst/>
          </a:prstGeom>
          <a:noFill/>
          <a:ln w="0">
            <a:noFill/>
          </a:ln>
        </p:spPr>
        <p:txBody>
          <a:bodyPr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hyperlink" Target="http://diversifyingecon.org/index.php?title=Personal_prejudices" TargetMode="External"/><Relationship Id="rId2" Type="http://schemas.openxmlformats.org/officeDocument/2006/relationships/hyperlink" Target="http://www.projectimplicit.net/about.html" TargetMode="Externa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implicit.harvard.edu/implicit/" TargetMode="Externa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hyperlink" Target="https://implicit.harvard.edu/implicit/selectatest.html" TargetMode="Externa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88" name="Title 1"/>
          <p:cNvSpPr/>
          <p:nvPr/>
        </p:nvSpPr>
        <p:spPr>
          <a:xfrm>
            <a:off x="1164600" y="1768320"/>
            <a:ext cx="10283760" cy="2588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90000"/>
              </a:lnSpc>
            </a:pPr>
            <a:r>
              <a:rPr lang="en-US" sz="4000" b="1" strike="noStrike" cap="all" spc="-1">
                <a:solidFill>
                  <a:srgbClr val="FFFFFF"/>
                </a:solidFill>
                <a:latin typeface="Century Gothic"/>
                <a:ea typeface="Century Gothic"/>
              </a:rPr>
              <a:t>Urban Economics</a:t>
            </a:r>
            <a:endParaRPr lang="en-US" sz="4000" b="0" strike="noStrike" spc="-1">
              <a:solidFill>
                <a:srgbClr val="000000"/>
              </a:solidFill>
              <a:latin typeface="Arial"/>
            </a:endParaRPr>
          </a:p>
          <a:p>
            <a:pPr>
              <a:lnSpc>
                <a:spcPct val="90000"/>
              </a:lnSpc>
            </a:pPr>
            <a:r>
              <a:rPr lang="en-US" sz="6000" b="1" strike="noStrike" cap="all" spc="-1">
                <a:solidFill>
                  <a:srgbClr val="FFFFFF"/>
                </a:solidFill>
                <a:latin typeface="Century Gothic"/>
                <a:ea typeface="Century Gothic"/>
              </a:rPr>
              <a:t>Introduction to the Economics of Discrimination</a:t>
            </a:r>
            <a:endParaRPr lang="en-US" sz="6000" b="0" strike="noStrike" spc="-1">
              <a:solidFill>
                <a:srgbClr val="000000"/>
              </a:solidFill>
              <a:latin typeface="Arial"/>
            </a:endParaRPr>
          </a:p>
          <a:p>
            <a:pPr>
              <a:lnSpc>
                <a:spcPct val="90000"/>
              </a:lnSpc>
            </a:pPr>
            <a:r>
              <a:rPr lang="en-US" sz="4000" b="1" strike="noStrike" cap="all" spc="-1">
                <a:solidFill>
                  <a:srgbClr val="FFFFFF"/>
                </a:solidFill>
                <a:latin typeface="Century Gothic"/>
                <a:ea typeface="Century Gothic"/>
              </a:rPr>
              <a:t>Prof. HUSSAIN HADAH</a:t>
            </a:r>
            <a:endParaRPr lang="en-US" sz="4000" b="0" strike="noStrike" spc="-1">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744840" y="-11088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Outline</a:t>
            </a:r>
            <a:endParaRPr lang="en-US" sz="3800" b="0" strike="noStrike" spc="-1">
              <a:solidFill>
                <a:srgbClr val="000000"/>
              </a:solidFill>
              <a:latin typeface="Calibri"/>
            </a:endParaRPr>
          </a:p>
        </p:txBody>
      </p:sp>
      <p:sp>
        <p:nvSpPr>
          <p:cNvPr id="90" name="PlaceHolder 2"/>
          <p:cNvSpPr>
            <a:spLocks noGrp="1"/>
          </p:cNvSpPr>
          <p:nvPr>
            <p:ph/>
          </p:nvPr>
        </p:nvSpPr>
        <p:spPr>
          <a:xfrm>
            <a:off x="838080" y="10137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dirty="0">
                <a:solidFill>
                  <a:srgbClr val="404040"/>
                </a:solidFill>
                <a:latin typeface="Century Gothic"/>
              </a:rPr>
              <a:t>What is discrimination?</a:t>
            </a:r>
          </a:p>
          <a:p>
            <a:pPr marL="228600" indent="-228600">
              <a:lnSpc>
                <a:spcPct val="90000"/>
              </a:lnSpc>
              <a:spcBef>
                <a:spcPts val="1001"/>
              </a:spcBef>
              <a:buClr>
                <a:srgbClr val="404040"/>
              </a:buClr>
              <a:buFont typeface="Arial"/>
              <a:buChar char="•"/>
            </a:pPr>
            <a:r>
              <a:rPr lang="en-US" sz="2400" b="0" strike="noStrike" spc="-1" dirty="0">
                <a:solidFill>
                  <a:srgbClr val="404040"/>
                </a:solidFill>
                <a:latin typeface="Century Gothic"/>
              </a:rPr>
              <a:t>Types of discrimination (these are all not mutually exclusive):</a:t>
            </a:r>
          </a:p>
          <a:p>
            <a:pPr marL="685800" lvl="1" indent="-228600">
              <a:lnSpc>
                <a:spcPct val="90000"/>
              </a:lnSpc>
              <a:spcBef>
                <a:spcPts val="499"/>
              </a:spcBef>
              <a:buClr>
                <a:srgbClr val="404040"/>
              </a:buClr>
              <a:buFont typeface="Arial"/>
              <a:buChar char="•"/>
            </a:pPr>
            <a:r>
              <a:rPr lang="en-US" sz="2000" b="0" strike="noStrike" spc="-1" dirty="0">
                <a:solidFill>
                  <a:srgbClr val="404040"/>
                </a:solidFill>
                <a:latin typeface="Century Gothic"/>
              </a:rPr>
              <a:t>Taste-based discrimination</a:t>
            </a:r>
          </a:p>
          <a:p>
            <a:pPr marL="685800" lvl="1" indent="-228600">
              <a:lnSpc>
                <a:spcPct val="90000"/>
              </a:lnSpc>
              <a:spcBef>
                <a:spcPts val="499"/>
              </a:spcBef>
              <a:buClr>
                <a:srgbClr val="404040"/>
              </a:buClr>
              <a:buFont typeface="Arial"/>
              <a:buChar char="•"/>
            </a:pPr>
            <a:r>
              <a:rPr lang="en-US" sz="2000" b="0" strike="noStrike" spc="-1" dirty="0">
                <a:solidFill>
                  <a:srgbClr val="404040"/>
                </a:solidFill>
                <a:latin typeface="Century Gothic"/>
              </a:rPr>
              <a:t>Statistical discrimination</a:t>
            </a:r>
          </a:p>
          <a:p>
            <a:pPr marL="685800" lvl="1" indent="-228600">
              <a:lnSpc>
                <a:spcPct val="90000"/>
              </a:lnSpc>
              <a:spcBef>
                <a:spcPts val="499"/>
              </a:spcBef>
              <a:buClr>
                <a:srgbClr val="404040"/>
              </a:buClr>
              <a:buFont typeface="Arial"/>
              <a:buChar char="•"/>
            </a:pPr>
            <a:r>
              <a:rPr lang="en-US" sz="2000" b="0" strike="noStrike" spc="-1" dirty="0">
                <a:solidFill>
                  <a:srgbClr val="404040"/>
                </a:solidFill>
                <a:latin typeface="Century Gothic"/>
              </a:rPr>
              <a:t>Implicit discrimination</a:t>
            </a:r>
          </a:p>
          <a:p>
            <a:pPr marL="228600" indent="-228600">
              <a:lnSpc>
                <a:spcPct val="90000"/>
              </a:lnSpc>
              <a:spcBef>
                <a:spcPts val="1001"/>
              </a:spcBef>
              <a:buClr>
                <a:srgbClr val="404040"/>
              </a:buClr>
              <a:buFont typeface="Arial"/>
              <a:buChar char="•"/>
            </a:pPr>
            <a:r>
              <a:rPr lang="en-US" sz="2400" b="0" strike="noStrike" spc="-1" dirty="0">
                <a:solidFill>
                  <a:srgbClr val="404040"/>
                </a:solidFill>
                <a:latin typeface="Century Gothic"/>
              </a:rPr>
              <a:t>An overview of audit field experiments</a:t>
            </a:r>
          </a:p>
          <a:p>
            <a:pPr marL="685800" lvl="1" indent="-228600">
              <a:lnSpc>
                <a:spcPct val="90000"/>
              </a:lnSpc>
              <a:spcBef>
                <a:spcPts val="499"/>
              </a:spcBef>
              <a:buClr>
                <a:srgbClr val="404040"/>
              </a:buClr>
              <a:buFont typeface="Arial"/>
              <a:buChar char="•"/>
            </a:pPr>
            <a:r>
              <a:rPr lang="en-US" sz="2000" b="0" strike="noStrike" spc="-1" dirty="0">
                <a:solidFill>
                  <a:srgbClr val="404040"/>
                </a:solidFill>
                <a:latin typeface="Century Gothic"/>
              </a:rPr>
              <a:t>Resume correspondence studies</a:t>
            </a:r>
          </a:p>
          <a:p>
            <a:pPr marL="685800" lvl="1" indent="-228600">
              <a:lnSpc>
                <a:spcPct val="90000"/>
              </a:lnSpc>
              <a:spcBef>
                <a:spcPts val="499"/>
              </a:spcBef>
              <a:buClr>
                <a:srgbClr val="404040"/>
              </a:buClr>
              <a:buFont typeface="Arial"/>
              <a:buChar char="•"/>
            </a:pPr>
            <a:r>
              <a:rPr lang="en-US" sz="2000" b="0" strike="noStrike" spc="-1" dirty="0">
                <a:solidFill>
                  <a:srgbClr val="404040"/>
                </a:solidFill>
                <a:latin typeface="Century Gothic"/>
              </a:rPr>
              <a:t>Correspondence studies of rental housing discrimination</a:t>
            </a:r>
          </a:p>
          <a:p>
            <a:pPr marL="685800" lvl="1" indent="-228600">
              <a:lnSpc>
                <a:spcPct val="90000"/>
              </a:lnSpc>
              <a:spcBef>
                <a:spcPts val="499"/>
              </a:spcBef>
              <a:buClr>
                <a:srgbClr val="404040"/>
              </a:buClr>
              <a:buFont typeface="Arial"/>
              <a:buChar char="•"/>
            </a:pPr>
            <a:r>
              <a:rPr lang="en-US" sz="2000" b="0" strike="noStrike" spc="-1" dirty="0">
                <a:solidFill>
                  <a:srgbClr val="404040"/>
                </a:solidFill>
                <a:latin typeface="Century Gothic"/>
              </a:rPr>
              <a:t>Audit experiments on transportation discrimination</a:t>
            </a:r>
          </a:p>
          <a:p>
            <a:pPr marL="1143000" lvl="2" indent="-228600">
              <a:lnSpc>
                <a:spcPct val="90000"/>
              </a:lnSpc>
              <a:spcBef>
                <a:spcPts val="499"/>
              </a:spcBef>
              <a:buClr>
                <a:srgbClr val="404040"/>
              </a:buClr>
              <a:buFont typeface="Arial"/>
              <a:buChar char="•"/>
            </a:pPr>
            <a:r>
              <a:rPr lang="en-US" sz="1800" b="0" strike="noStrike" spc="-1" dirty="0">
                <a:solidFill>
                  <a:srgbClr val="404040"/>
                </a:solidFill>
                <a:latin typeface="Century Gothic"/>
              </a:rPr>
              <a:t>Ridesharing</a:t>
            </a:r>
          </a:p>
          <a:p>
            <a:pPr marL="1143000" lvl="2" indent="-228600">
              <a:lnSpc>
                <a:spcPct val="90000"/>
              </a:lnSpc>
              <a:spcBef>
                <a:spcPts val="499"/>
              </a:spcBef>
              <a:buClr>
                <a:srgbClr val="404040"/>
              </a:buClr>
              <a:buFont typeface="Arial"/>
              <a:buChar char="•"/>
            </a:pPr>
            <a:r>
              <a:rPr lang="en-US" sz="1800" b="0" strike="noStrike" spc="-1">
                <a:solidFill>
                  <a:srgbClr val="404040"/>
                </a:solidFill>
                <a:latin typeface="Century Gothic"/>
              </a:rPr>
              <a:t>Public transportation</a:t>
            </a:r>
            <a:endParaRPr lang="en-US" sz="1800" b="0" strike="noStrike" spc="-1" dirty="0">
              <a:solidFill>
                <a:srgbClr val="404040"/>
              </a:solidFill>
              <a:latin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What is discrimination?</a:t>
            </a:r>
            <a:endParaRPr lang="en-US" sz="3800" b="0" strike="noStrike" spc="-1">
              <a:solidFill>
                <a:srgbClr val="000000"/>
              </a:solidFill>
              <a:latin typeface="Calibri"/>
            </a:endParaRPr>
          </a:p>
        </p:txBody>
      </p:sp>
      <p:sp>
        <p:nvSpPr>
          <p:cNvPr id="92" name="PlaceHolder 2"/>
          <p:cNvSpPr>
            <a:spLocks noGrp="1"/>
          </p:cNvSpPr>
          <p:nvPr>
            <p:ph/>
          </p:nvPr>
        </p:nvSpPr>
        <p:spPr>
          <a:xfrm>
            <a:off x="838080" y="143388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200" b="0" strike="noStrike" spc="-1">
                <a:solidFill>
                  <a:srgbClr val="404040"/>
                </a:solidFill>
                <a:latin typeface="Century Gothic"/>
              </a:rPr>
              <a:t>When two individuals who are the same are treated differently.</a:t>
            </a:r>
          </a:p>
          <a:p>
            <a:pPr marL="228600" indent="-228600">
              <a:lnSpc>
                <a:spcPct val="90000"/>
              </a:lnSpc>
              <a:spcBef>
                <a:spcPts val="1001"/>
              </a:spcBef>
              <a:buClr>
                <a:srgbClr val="404040"/>
              </a:buClr>
              <a:buFont typeface="Arial"/>
              <a:buChar char="•"/>
            </a:pPr>
            <a:r>
              <a:rPr lang="en-US" sz="2200" b="0" strike="noStrike" spc="-1">
                <a:solidFill>
                  <a:srgbClr val="404040"/>
                </a:solidFill>
                <a:latin typeface="Century Gothic"/>
              </a:rPr>
              <a:t>There is a lot of debate around to what extent discrimination occurs, and a </a:t>
            </a:r>
            <a:r>
              <a:rPr lang="en-US" sz="2200" b="0" i="1" strike="noStrike" spc="-1">
                <a:solidFill>
                  <a:srgbClr val="404040"/>
                </a:solidFill>
                <a:latin typeface="Century Gothic"/>
              </a:rPr>
              <a:t>part</a:t>
            </a:r>
            <a:r>
              <a:rPr lang="en-US" sz="2200" b="0" strike="noStrike" spc="-1">
                <a:solidFill>
                  <a:srgbClr val="404040"/>
                </a:solidFill>
                <a:latin typeface="Century Gothic"/>
              </a:rPr>
              <a:t> of the reason for this debate is that discrimination is hard to measure.</a:t>
            </a:r>
          </a:p>
          <a:p>
            <a:pPr marL="228600" indent="-228600">
              <a:lnSpc>
                <a:spcPct val="90000"/>
              </a:lnSpc>
              <a:spcBef>
                <a:spcPts val="1001"/>
              </a:spcBef>
              <a:buClr>
                <a:srgbClr val="404040"/>
              </a:buClr>
              <a:buFont typeface="Arial"/>
              <a:buChar char="•"/>
            </a:pPr>
            <a:r>
              <a:rPr lang="en-US" sz="2200" b="0" strike="noStrike" spc="-1">
                <a:solidFill>
                  <a:srgbClr val="404040"/>
                </a:solidFill>
                <a:latin typeface="Century Gothic"/>
              </a:rPr>
              <a:t>Sometimes discrimination manifests itself in extreme and obvious ways.</a:t>
            </a:r>
          </a:p>
          <a:p>
            <a:pPr marL="228600" indent="-228600">
              <a:lnSpc>
                <a:spcPct val="90000"/>
              </a:lnSpc>
              <a:spcBef>
                <a:spcPts val="1001"/>
              </a:spcBef>
              <a:buClr>
                <a:srgbClr val="404040"/>
              </a:buClr>
              <a:buFont typeface="Arial"/>
              <a:buChar char="•"/>
            </a:pPr>
            <a:r>
              <a:rPr lang="en-US" sz="2200" b="0" strike="noStrike" spc="-1">
                <a:solidFill>
                  <a:srgbClr val="404040"/>
                </a:solidFill>
                <a:latin typeface="Century Gothic"/>
              </a:rPr>
              <a:t>But often times it’s subtle – e.g., not getting an interview offer.</a:t>
            </a:r>
          </a:p>
          <a:p>
            <a:pPr marL="685800" lvl="1" indent="-228600">
              <a:lnSpc>
                <a:spcPct val="90000"/>
              </a:lnSpc>
              <a:spcBef>
                <a:spcPts val="499"/>
              </a:spcBef>
              <a:buClr>
                <a:srgbClr val="404040"/>
              </a:buClr>
              <a:buFont typeface="Arial"/>
              <a:buChar char="•"/>
            </a:pPr>
            <a:r>
              <a:rPr lang="en-US" sz="2200" b="0" strike="noStrike" spc="-1">
                <a:solidFill>
                  <a:srgbClr val="404040"/>
                </a:solidFill>
                <a:latin typeface="Century Gothic"/>
              </a:rPr>
              <a:t>What that because of discrimination, or was there another factor?</a:t>
            </a:r>
          </a:p>
          <a:p>
            <a:pPr marL="228600" indent="-228600">
              <a:lnSpc>
                <a:spcPct val="90000"/>
              </a:lnSpc>
              <a:spcBef>
                <a:spcPts val="1001"/>
              </a:spcBef>
              <a:buClr>
                <a:srgbClr val="404040"/>
              </a:buClr>
              <a:buFont typeface="Arial"/>
              <a:buChar char="•"/>
            </a:pPr>
            <a:r>
              <a:rPr lang="en-US" sz="2200" b="0" strike="noStrike" spc="-1">
                <a:solidFill>
                  <a:srgbClr val="404040"/>
                </a:solidFill>
                <a:latin typeface="Century Gothic"/>
              </a:rPr>
              <a:t>Isolating discrimination as the factor can be difficult due to a lack of data.</a:t>
            </a:r>
          </a:p>
          <a:p>
            <a:pPr marL="228600" indent="-228600">
              <a:lnSpc>
                <a:spcPct val="90000"/>
              </a:lnSpc>
              <a:spcBef>
                <a:spcPts val="1001"/>
              </a:spcBef>
              <a:buClr>
                <a:srgbClr val="404040"/>
              </a:buClr>
              <a:buFont typeface="Arial"/>
              <a:buChar char="•"/>
            </a:pPr>
            <a:r>
              <a:rPr lang="en-US" sz="2200" b="0" strike="noStrike" spc="-1">
                <a:solidFill>
                  <a:srgbClr val="404040"/>
                </a:solidFill>
                <a:latin typeface="Century Gothic"/>
              </a:rPr>
              <a:t>But using data we have or can create can be important to bring evidence to the table to complement qualitative research and anecdotal evidence.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Types of discrimination</a:t>
            </a:r>
            <a:endParaRPr lang="en-US" sz="3800" b="0" strike="noStrike" spc="-1">
              <a:solidFill>
                <a:srgbClr val="000000"/>
              </a:solidFill>
              <a:latin typeface="Calibri"/>
            </a:endParaRPr>
          </a:p>
        </p:txBody>
      </p:sp>
      <p:sp>
        <p:nvSpPr>
          <p:cNvPr id="94" name="PlaceHolder 2"/>
          <p:cNvSpPr>
            <a:spLocks noGrp="1"/>
          </p:cNvSpPr>
          <p:nvPr>
            <p:ph/>
          </p:nvPr>
        </p:nvSpPr>
        <p:spPr>
          <a:xfrm>
            <a:off x="838080" y="18255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There are different types of discrimination. Economists typically focus on:</a:t>
            </a:r>
          </a:p>
          <a:p>
            <a:pPr marL="685800" lvl="1" indent="-228600">
              <a:lnSpc>
                <a:spcPct val="90000"/>
              </a:lnSpc>
              <a:spcBef>
                <a:spcPts val="499"/>
              </a:spcBef>
              <a:buClr>
                <a:srgbClr val="404040"/>
              </a:buClr>
              <a:buFont typeface="Arial"/>
              <a:buChar char="•"/>
            </a:pPr>
            <a:r>
              <a:rPr lang="en-US" sz="2000" b="1" strike="noStrike" spc="-1">
                <a:solidFill>
                  <a:srgbClr val="404040"/>
                </a:solidFill>
                <a:latin typeface="Century Gothic"/>
              </a:rPr>
              <a:t>Taste-based discrimination</a:t>
            </a:r>
            <a:endParaRPr lang="en-US" sz="2000" b="0" strike="noStrike" spc="-1">
              <a:solidFill>
                <a:srgbClr val="404040"/>
              </a:solidFill>
              <a:latin typeface="Century Gothic"/>
            </a:endParaRPr>
          </a:p>
          <a:p>
            <a:pPr marL="685800" lvl="1" indent="-228600">
              <a:lnSpc>
                <a:spcPct val="90000"/>
              </a:lnSpc>
              <a:spcBef>
                <a:spcPts val="499"/>
              </a:spcBef>
              <a:buClr>
                <a:srgbClr val="404040"/>
              </a:buClr>
              <a:buFont typeface="Arial"/>
              <a:buChar char="•"/>
            </a:pPr>
            <a:r>
              <a:rPr lang="en-US" sz="2000" b="1" strike="noStrike" spc="-1">
                <a:solidFill>
                  <a:srgbClr val="404040"/>
                </a:solidFill>
                <a:latin typeface="Century Gothic"/>
              </a:rPr>
              <a:t>Statistical discrimination</a:t>
            </a:r>
            <a:endParaRPr lang="en-US" sz="2000" b="0" strike="noStrike" spc="-1">
              <a:solidFill>
                <a:srgbClr val="404040"/>
              </a:solidFill>
              <a:latin typeface="Century Gothic"/>
            </a:endParaRP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Often economists try to determine to what extent discrimination is taste-based vs. statistical</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Sociologists and psychologists also study discrimination.</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Sociologists are aware of the taste-based discrimination vs. statistical discrimination situation, but focus on discrimination more broadly, instructing concepts such as structural discrimination and systemic disadvantage.</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Psychologists coined/discovered </a:t>
            </a:r>
            <a:r>
              <a:rPr lang="en-US" sz="2000" b="1" strike="noStrike" spc="-1">
                <a:solidFill>
                  <a:srgbClr val="404040"/>
                </a:solidFill>
                <a:latin typeface="Century Gothic"/>
              </a:rPr>
              <a:t>implicit discrimination</a:t>
            </a:r>
            <a:endParaRPr lang="en-US" sz="2000" b="0" strike="noStrike" spc="-1">
              <a:solidFill>
                <a:srgbClr val="404040"/>
              </a:solidFill>
              <a:latin typeface="Century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Taste-Based Discrimination – “Animus”</a:t>
            </a:r>
            <a:endParaRPr lang="en-US" sz="3800" b="0" strike="noStrike" spc="-1">
              <a:solidFill>
                <a:srgbClr val="000000"/>
              </a:solidFill>
              <a:latin typeface="Calibri"/>
            </a:endParaRPr>
          </a:p>
        </p:txBody>
      </p:sp>
      <p:sp>
        <p:nvSpPr>
          <p:cNvPr id="96" name="PlaceHolder 2"/>
          <p:cNvSpPr>
            <a:spLocks noGrp="1"/>
          </p:cNvSpPr>
          <p:nvPr>
            <p:ph/>
          </p:nvPr>
        </p:nvSpPr>
        <p:spPr>
          <a:xfrm>
            <a:off x="838080" y="139644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Discrimination that occurs due to not liking or having animus against a group.</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Think outright racism, homophobia, sexism, transphobia, ageism, etc.</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The term was coined by Gary Becker, a famous labor economist who is known for being one of the first to apply economics to study discrimination in the labor market.</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Unsurprisingly, taste-based discrimination is seen as uniformly bad, both because it is inequitable, but it also creates inefficiencies (e.g., not hiring the employee who is the best fit for the company.)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Taste-Based Discrimination – “Animus”</a:t>
            </a:r>
            <a:endParaRPr lang="en-US" sz="3800" b="0" strike="noStrike" spc="-1">
              <a:solidFill>
                <a:srgbClr val="000000"/>
              </a:solidFill>
              <a:latin typeface="Calibri"/>
            </a:endParaRPr>
          </a:p>
        </p:txBody>
      </p:sp>
      <p:sp>
        <p:nvSpPr>
          <p:cNvPr id="98" name="PlaceHolder 2"/>
          <p:cNvSpPr>
            <a:spLocks noGrp="1"/>
          </p:cNvSpPr>
          <p:nvPr>
            <p:ph/>
          </p:nvPr>
        </p:nvSpPr>
        <p:spPr>
          <a:xfrm>
            <a:off x="838080" y="139644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It’s often hard to measure to what extent discrimination is taste-based since:</a:t>
            </a:r>
          </a:p>
          <a:p>
            <a:pPr marL="457200" indent="-457200">
              <a:lnSpc>
                <a:spcPct val="90000"/>
              </a:lnSpc>
              <a:spcBef>
                <a:spcPts val="1001"/>
              </a:spcBef>
              <a:buClr>
                <a:srgbClr val="404040"/>
              </a:buClr>
              <a:buFont typeface="Arial"/>
              <a:buAutoNum type="arabicParenR"/>
            </a:pPr>
            <a:r>
              <a:rPr lang="en-US" sz="2400" b="0" strike="noStrike" spc="-1">
                <a:solidFill>
                  <a:srgbClr val="404040"/>
                </a:solidFill>
                <a:latin typeface="Century Gothic"/>
              </a:rPr>
              <a:t>It’s hard to perfectly witness discrimination in a way where it can be obviously isolated</a:t>
            </a:r>
          </a:p>
          <a:p>
            <a:pPr marL="457200" indent="-457200">
              <a:lnSpc>
                <a:spcPct val="90000"/>
              </a:lnSpc>
              <a:spcBef>
                <a:spcPts val="1001"/>
              </a:spcBef>
              <a:buClr>
                <a:srgbClr val="404040"/>
              </a:buClr>
              <a:buFont typeface="Arial"/>
              <a:buAutoNum type="arabicParenR"/>
            </a:pPr>
            <a:r>
              <a:rPr lang="en-US" sz="2400" b="0" strike="noStrike" spc="-1">
                <a:solidFill>
                  <a:srgbClr val="404040"/>
                </a:solidFill>
                <a:latin typeface="Century Gothic"/>
              </a:rPr>
              <a:t>People </a:t>
            </a:r>
            <a:r>
              <a:rPr lang="en-US" sz="2400" b="0" i="1" strike="noStrike" spc="-1">
                <a:solidFill>
                  <a:srgbClr val="404040"/>
                </a:solidFill>
                <a:latin typeface="Century Gothic"/>
              </a:rPr>
              <a:t>usually</a:t>
            </a:r>
            <a:r>
              <a:rPr lang="en-US" sz="2400" b="0" strike="noStrike" spc="-1">
                <a:solidFill>
                  <a:srgbClr val="404040"/>
                </a:solidFill>
                <a:latin typeface="Century Gothic"/>
              </a:rPr>
              <a:t> aren’t going to reveal that they are bigots, although outright, observable sexism, homophobia, anti-Semitism, racism, etc., are becoming more common.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Statistical discrimination</a:t>
            </a:r>
            <a:endParaRPr lang="en-US" sz="3800" b="0" strike="noStrike" spc="-1">
              <a:solidFill>
                <a:srgbClr val="000000"/>
              </a:solidFill>
              <a:latin typeface="Calibri"/>
            </a:endParaRPr>
          </a:p>
        </p:txBody>
      </p:sp>
      <p:sp>
        <p:nvSpPr>
          <p:cNvPr id="100" name="PlaceHolder 2"/>
          <p:cNvSpPr>
            <a:spLocks noGrp="1"/>
          </p:cNvSpPr>
          <p:nvPr>
            <p:ph/>
          </p:nvPr>
        </p:nvSpPr>
        <p:spPr>
          <a:xfrm>
            <a:off x="838080" y="18255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This theory is typically attributed to Kenneth Arrow's 1973 work </a:t>
            </a:r>
            <a:r>
              <a:rPr lang="en-US" sz="2400" b="0" i="1" strike="noStrike" spc="-1">
                <a:solidFill>
                  <a:srgbClr val="404040"/>
                </a:solidFill>
                <a:latin typeface="Century Gothic"/>
              </a:rPr>
              <a:t>The Theory of Discrimination </a:t>
            </a:r>
            <a:r>
              <a:rPr lang="en-US" sz="2400" b="0" strike="noStrike" spc="-1">
                <a:solidFill>
                  <a:srgbClr val="404040"/>
                </a:solidFill>
                <a:latin typeface="Century Gothic"/>
              </a:rPr>
              <a:t>and to Edmund Phelp's 1972 paper </a:t>
            </a:r>
            <a:r>
              <a:rPr lang="en-US" sz="2400" b="0" i="1" strike="noStrike" spc="-1">
                <a:solidFill>
                  <a:srgbClr val="404040"/>
                </a:solidFill>
                <a:latin typeface="Century Gothic"/>
              </a:rPr>
              <a:t>The Statistical Theory of Racism and Sexism. </a:t>
            </a:r>
            <a:endParaRPr lang="en-US" sz="2400" b="0" strike="noStrike" spc="-1">
              <a:solidFill>
                <a:srgbClr val="404040"/>
              </a:solidFill>
              <a:latin typeface="Century Gothic"/>
            </a:endParaRP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The idea is that some discrimination is based on individuals using actual or perceived information about the differences between groups – i.e. actual or perceived statistical differences between groups.</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Minority status – such as race or ethnicity – is used a proxy for something else.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Statistical discrimination</a:t>
            </a:r>
            <a:endParaRPr lang="en-US" sz="3800" b="0" strike="noStrike" spc="-1">
              <a:solidFill>
                <a:srgbClr val="000000"/>
              </a:solidFill>
              <a:latin typeface="Calibri"/>
            </a:endParaRPr>
          </a:p>
        </p:txBody>
      </p:sp>
      <p:sp>
        <p:nvSpPr>
          <p:cNvPr id="102" name="PlaceHolder 2"/>
          <p:cNvSpPr>
            <a:spLocks noGrp="1"/>
          </p:cNvSpPr>
          <p:nvPr>
            <p:ph/>
          </p:nvPr>
        </p:nvSpPr>
        <p:spPr>
          <a:xfrm>
            <a:off x="838080" y="18255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The best way to describe what is meant by statistical discrimination is to give some examples from different contexts:</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Employment (which you’ll see in the Agan and Starr, 2018, paper on “Ban the Box”)</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Housing (which you’ll see in a few papers, including my experiment on sexual orientation discrimination in mortgage loans)</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Policing (which you’ll see in a few papers, such as Antonovics and Knight, 2009)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Statistical discrimination - Employment</a:t>
            </a:r>
            <a:endParaRPr lang="en-US" sz="3800" b="0" strike="noStrike" spc="-1">
              <a:solidFill>
                <a:srgbClr val="000000"/>
              </a:solidFill>
              <a:latin typeface="Calibri"/>
            </a:endParaRPr>
          </a:p>
        </p:txBody>
      </p:sp>
      <p:sp>
        <p:nvSpPr>
          <p:cNvPr id="104" name="PlaceHolder 2"/>
          <p:cNvSpPr>
            <a:spLocks noGrp="1"/>
          </p:cNvSpPr>
          <p:nvPr>
            <p:ph/>
          </p:nvPr>
        </p:nvSpPr>
        <p:spPr>
          <a:xfrm>
            <a:off x="838080" y="18255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In the face of imperfect information (employers don’t know everything about job applicants), employers may make assumptions about job applicants based on the minority group they are in.</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Agan and Starr (2018) study discrimination against Hispanics, African Americans, and those with criminal records in job applications.</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They note that employers statistically discriminate against Hispanics and African Americans by assuming they are more likely to have criminal records in cases when criminal record data is not available to them.</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Race and ethnicity are unfortunately used as a proxy for criminal records.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Statistical discrimination - Housing</a:t>
            </a:r>
            <a:endParaRPr lang="en-US" sz="3800" b="0" strike="noStrike" spc="-1">
              <a:solidFill>
                <a:srgbClr val="000000"/>
              </a:solidFill>
              <a:latin typeface="Calibri"/>
            </a:endParaRPr>
          </a:p>
        </p:txBody>
      </p:sp>
      <p:sp>
        <p:nvSpPr>
          <p:cNvPr id="106" name="PlaceHolder 2"/>
          <p:cNvSpPr>
            <a:spLocks noGrp="1"/>
          </p:cNvSpPr>
          <p:nvPr>
            <p:ph/>
          </p:nvPr>
        </p:nvSpPr>
        <p:spPr>
          <a:xfrm>
            <a:off x="838080" y="1825560"/>
            <a:ext cx="10515240" cy="4350960"/>
          </a:xfrm>
          <a:prstGeom prst="rect">
            <a:avLst/>
          </a:prstGeom>
          <a:noFill/>
          <a:ln w="0">
            <a:noFill/>
          </a:ln>
        </p:spPr>
        <p:txBody>
          <a:bodyPr numCol="1" spcCol="0" anchor="t">
            <a:noAutofit/>
          </a:bodyPr>
          <a:lstStyle/>
          <a:p>
            <a:pPr marL="0" indent="0">
              <a:lnSpc>
                <a:spcPct val="90000"/>
              </a:lnSpc>
              <a:spcBef>
                <a:spcPts val="1001"/>
              </a:spcBef>
              <a:buClr>
                <a:srgbClr val="404040"/>
              </a:buClr>
              <a:buNone/>
            </a:pPr>
            <a:endParaRPr lang="en-US" sz="2400" b="0" strike="noStrike" spc="-1" dirty="0">
              <a:solidFill>
                <a:srgbClr val="404040"/>
              </a:solidFill>
              <a:latin typeface="Century Gothic"/>
            </a:endParaRPr>
          </a:p>
          <a:p>
            <a:pPr marL="228600" indent="-228600">
              <a:lnSpc>
                <a:spcPct val="90000"/>
              </a:lnSpc>
              <a:spcBef>
                <a:spcPts val="1001"/>
              </a:spcBef>
              <a:buClr>
                <a:srgbClr val="404040"/>
              </a:buClr>
              <a:buFont typeface="Arial"/>
              <a:buChar char="•"/>
            </a:pPr>
            <a:r>
              <a:rPr lang="en-US" sz="2400" b="0" strike="noStrike" spc="-1" dirty="0">
                <a:solidFill>
                  <a:srgbClr val="404040"/>
                </a:solidFill>
                <a:latin typeface="Century Gothic"/>
              </a:rPr>
              <a:t>One concern we have is that mortgage loan originators – who people work with to get mortgages – may statistically discriminate against applicants based on perceptions of their credit worthiness.</a:t>
            </a:r>
          </a:p>
          <a:p>
            <a:pPr marL="228600" indent="-228600">
              <a:lnSpc>
                <a:spcPct val="90000"/>
              </a:lnSpc>
              <a:spcBef>
                <a:spcPts val="1001"/>
              </a:spcBef>
              <a:buClr>
                <a:srgbClr val="404040"/>
              </a:buClr>
              <a:buFont typeface="Arial"/>
              <a:buChar char="•"/>
            </a:pPr>
            <a:r>
              <a:rPr lang="en-US" sz="2400" b="0" strike="noStrike" spc="-1" dirty="0">
                <a:solidFill>
                  <a:srgbClr val="404040"/>
                </a:solidFill>
                <a:latin typeface="Century Gothic"/>
              </a:rPr>
              <a:t>E.g., may assume that same-gender male couples are more creditworthy (since two men, and men on-average earn more) while same-gender female couples are less credit worthy (since two women, and women on-average earn less).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Statistical discrimination - Policing</a:t>
            </a:r>
            <a:endParaRPr lang="en-US" sz="3800" b="0" strike="noStrike" spc="-1">
              <a:solidFill>
                <a:srgbClr val="000000"/>
              </a:solidFill>
              <a:latin typeface="Calibri"/>
            </a:endParaRPr>
          </a:p>
        </p:txBody>
      </p:sp>
      <p:sp>
        <p:nvSpPr>
          <p:cNvPr id="108" name="PlaceHolder 2"/>
          <p:cNvSpPr>
            <a:spLocks noGrp="1"/>
          </p:cNvSpPr>
          <p:nvPr>
            <p:ph/>
          </p:nvPr>
        </p:nvSpPr>
        <p:spPr>
          <a:xfrm>
            <a:off x="838080" y="18255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Police offers could (and likely do) statistically discriminate in interactions with citizens.</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They may, for example, be more likely to assume that people of color have done something wrong, have drugs in their car, etc., </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For these “reasons”, police may be more likely to search people of color through car searches, “stop and frisk” etc.</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In this example, race is used as a proxy for assumptions about criminality.</a:t>
            </a:r>
          </a:p>
          <a:p>
            <a:pPr indent="0">
              <a:lnSpc>
                <a:spcPct val="90000"/>
              </a:lnSpc>
              <a:spcBef>
                <a:spcPts val="1001"/>
              </a:spcBef>
              <a:buNone/>
            </a:pPr>
            <a:endParaRPr lang="en-US" sz="2400" b="0" strike="noStrike" spc="-1">
              <a:solidFill>
                <a:srgbClr val="404040"/>
              </a:solidFill>
              <a:latin typeface="Century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Implicit Discrimination</a:t>
            </a:r>
            <a:endParaRPr lang="en-US" sz="3800" b="0" strike="noStrike" spc="-1">
              <a:solidFill>
                <a:srgbClr val="000000"/>
              </a:solidFill>
              <a:latin typeface="Calibri"/>
            </a:endParaRPr>
          </a:p>
        </p:txBody>
      </p:sp>
      <p:sp>
        <p:nvSpPr>
          <p:cNvPr id="110" name="PlaceHolder 2"/>
          <p:cNvSpPr>
            <a:spLocks noGrp="1"/>
          </p:cNvSpPr>
          <p:nvPr>
            <p:ph/>
          </p:nvPr>
        </p:nvSpPr>
        <p:spPr>
          <a:xfrm>
            <a:off x="838080" y="18255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A type of discrimination that occurs due to implicit bias.</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Implicit bias is an unconscious form of bias discovered by psychologists </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It’s a bias that most people are often not aware that they have.</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Implicit bias usually appears when making quick decisions such as quickly reviewing resumes. </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In these situations, you may be more likely to rely on implicit bias.</a:t>
            </a:r>
          </a:p>
          <a:p>
            <a:pPr indent="0">
              <a:lnSpc>
                <a:spcPct val="90000"/>
              </a:lnSpc>
              <a:spcBef>
                <a:spcPts val="1001"/>
              </a:spcBef>
              <a:buNone/>
            </a:pPr>
            <a:endParaRPr lang="en-US" sz="2400" b="0" strike="noStrike" spc="-1">
              <a:solidFill>
                <a:srgbClr val="404040"/>
              </a:solidFill>
              <a:latin typeface="Century Gothic"/>
            </a:endParaRPr>
          </a:p>
          <a:p>
            <a:pPr indent="0">
              <a:lnSpc>
                <a:spcPct val="90000"/>
              </a:lnSpc>
              <a:spcBef>
                <a:spcPts val="1001"/>
              </a:spcBef>
              <a:buNone/>
            </a:pPr>
            <a:endParaRPr lang="en-US" sz="2400" b="0" strike="noStrike" spc="-1">
              <a:solidFill>
                <a:srgbClr val="404040"/>
              </a:solidFill>
              <a:latin typeface="Century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Implicit bias is pervasive</a:t>
            </a:r>
            <a:endParaRPr lang="en-US" sz="3800" b="0" strike="noStrike" spc="-1">
              <a:solidFill>
                <a:srgbClr val="000000"/>
              </a:solidFill>
              <a:latin typeface="Calibri"/>
            </a:endParaRPr>
          </a:p>
        </p:txBody>
      </p:sp>
      <p:sp>
        <p:nvSpPr>
          <p:cNvPr id="112" name="PlaceHolder 2"/>
          <p:cNvSpPr>
            <a:spLocks noGrp="1"/>
          </p:cNvSpPr>
          <p:nvPr>
            <p:ph/>
          </p:nvPr>
        </p:nvSpPr>
        <p:spPr>
          <a:xfrm>
            <a:off x="838080" y="18255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000000"/>
              </a:buClr>
              <a:buFont typeface="Arial"/>
              <a:buChar char="•"/>
            </a:pPr>
            <a:r>
              <a:rPr lang="en-US" sz="2400" b="0" strike="noStrike" spc="-1">
                <a:solidFill>
                  <a:srgbClr val="000000"/>
                </a:solidFill>
                <a:latin typeface="Century Gothic"/>
              </a:rPr>
              <a:t>They appear as statistically "large" effects that are often shown by majorities of samples of Americans. </a:t>
            </a:r>
            <a:endParaRPr lang="en-US" sz="2400" b="0" strike="noStrike" spc="-1">
              <a:solidFill>
                <a:srgbClr val="404040"/>
              </a:solidFill>
              <a:latin typeface="Century Gothic"/>
            </a:endParaRPr>
          </a:p>
          <a:p>
            <a:pPr marL="228600" indent="-228600">
              <a:lnSpc>
                <a:spcPct val="90000"/>
              </a:lnSpc>
              <a:spcBef>
                <a:spcPts val="1001"/>
              </a:spcBef>
              <a:buClr>
                <a:srgbClr val="000000"/>
              </a:buClr>
              <a:buFont typeface="Arial"/>
              <a:buChar char="•"/>
            </a:pPr>
            <a:r>
              <a:rPr lang="en-US" sz="2400" b="0" strike="noStrike" spc="-1">
                <a:solidFill>
                  <a:srgbClr val="000000"/>
                </a:solidFill>
                <a:latin typeface="Century Gothic"/>
              </a:rPr>
              <a:t>Over 80% of web respondents show implicit negativity toward the elderly compared to the young</a:t>
            </a:r>
            <a:endParaRPr lang="en-US" sz="2400" b="0" strike="noStrike" spc="-1">
              <a:solidFill>
                <a:srgbClr val="404040"/>
              </a:solidFill>
              <a:latin typeface="Century Gothic"/>
            </a:endParaRPr>
          </a:p>
          <a:p>
            <a:pPr marL="228600" indent="-228600">
              <a:lnSpc>
                <a:spcPct val="90000"/>
              </a:lnSpc>
              <a:spcBef>
                <a:spcPts val="1001"/>
              </a:spcBef>
              <a:buClr>
                <a:srgbClr val="000000"/>
              </a:buClr>
              <a:buFont typeface="Arial"/>
              <a:buChar char="•"/>
            </a:pPr>
            <a:r>
              <a:rPr lang="en-US" sz="2400" b="0" strike="noStrike" spc="-1">
                <a:solidFill>
                  <a:srgbClr val="000000"/>
                </a:solidFill>
                <a:latin typeface="Century Gothic"/>
              </a:rPr>
              <a:t>75-80% of self-identified Whites and Asians show an implicit preference for racial White relative to Black.</a:t>
            </a:r>
            <a:endParaRPr lang="en-US" sz="2400" b="0" strike="noStrike" spc="-1">
              <a:solidFill>
                <a:srgbClr val="404040"/>
              </a:solidFill>
              <a:latin typeface="Century Gothic"/>
            </a:endParaRPr>
          </a:p>
          <a:p>
            <a:pPr marL="228600" indent="-228600">
              <a:lnSpc>
                <a:spcPct val="90000"/>
              </a:lnSpc>
              <a:spcBef>
                <a:spcPts val="1001"/>
              </a:spcBef>
              <a:buClr>
                <a:srgbClr val="000000"/>
              </a:buClr>
              <a:buFont typeface="Arial"/>
              <a:buChar char="•"/>
            </a:pPr>
            <a:r>
              <a:rPr lang="en-US" sz="2000" b="0" strike="noStrike" spc="-1">
                <a:solidFill>
                  <a:srgbClr val="000000"/>
                </a:solidFill>
                <a:latin typeface="Century Gothic"/>
              </a:rPr>
              <a:t>(Finding from </a:t>
            </a:r>
            <a:r>
              <a:rPr lang="en-US" sz="2000" b="0" u="sng" strike="noStrike" spc="-1">
                <a:solidFill>
                  <a:srgbClr val="71C5E8"/>
                </a:solidFill>
                <a:uFillTx/>
                <a:latin typeface="Century Gothic"/>
                <a:hlinkClick r:id="rId2"/>
              </a:rPr>
              <a:t>http://www.projectimplicit.net/about.html</a:t>
            </a:r>
            <a:r>
              <a:rPr lang="en-US" sz="2000" b="0" strike="noStrike" spc="-1">
                <a:solidFill>
                  <a:srgbClr val="000000"/>
                </a:solidFill>
                <a:latin typeface="Century Gothic"/>
              </a:rPr>
              <a:t> via </a:t>
            </a:r>
            <a:r>
              <a:rPr lang="en-US" sz="2000" b="0" u="sng" strike="noStrike" spc="-1">
                <a:solidFill>
                  <a:srgbClr val="71C5E8"/>
                </a:solidFill>
                <a:uFillTx/>
                <a:latin typeface="Century Gothic"/>
                <a:hlinkClick r:id="rId3"/>
              </a:rPr>
              <a:t>http://diversifyingecon.org/index.php?title=Personal_prejudices</a:t>
            </a:r>
            <a:r>
              <a:rPr lang="en-US" sz="2000" b="0" strike="noStrike" spc="-1">
                <a:solidFill>
                  <a:srgbClr val="000000"/>
                </a:solidFill>
                <a:latin typeface="Century Gothic"/>
              </a:rPr>
              <a:t>)</a:t>
            </a:r>
            <a:endParaRPr lang="en-US" sz="2000" b="0" strike="noStrike" spc="-1">
              <a:solidFill>
                <a:srgbClr val="404040"/>
              </a:solidFill>
              <a:latin typeface="Century Gothic"/>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Implicit association test</a:t>
            </a:r>
            <a:endParaRPr lang="en-US" sz="3800" b="0" strike="noStrike" spc="-1">
              <a:solidFill>
                <a:srgbClr val="000000"/>
              </a:solidFill>
              <a:latin typeface="Calibri"/>
            </a:endParaRPr>
          </a:p>
        </p:txBody>
      </p:sp>
      <p:sp>
        <p:nvSpPr>
          <p:cNvPr id="114" name="PlaceHolder 2"/>
          <p:cNvSpPr>
            <a:spLocks noGrp="1"/>
          </p:cNvSpPr>
          <p:nvPr>
            <p:ph/>
          </p:nvPr>
        </p:nvSpPr>
        <p:spPr>
          <a:xfrm>
            <a:off x="838080" y="1825560"/>
            <a:ext cx="719496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Psychologists use the Implicit Association Test (IAT) to try to measure implicit bias.</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You can take the test yourself at: </a:t>
            </a:r>
            <a:r>
              <a:rPr lang="en-US" sz="2400" b="0" u="sng" strike="noStrike" spc="-1">
                <a:solidFill>
                  <a:srgbClr val="71C5E8"/>
                </a:solidFill>
                <a:uFillTx/>
                <a:latin typeface="Century Gothic"/>
                <a:hlinkClick r:id="rId2"/>
              </a:rPr>
              <a:t>https://implicit.harvard.edu/implicit/</a:t>
            </a:r>
            <a:endParaRPr lang="en-US" sz="2400" b="0" strike="noStrike" spc="-1">
              <a:solidFill>
                <a:srgbClr val="404040"/>
              </a:solidFill>
              <a:latin typeface="Century Gothic"/>
            </a:endParaRP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There are numerous versions:</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Race IAT (bias against black people)</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Asian IAT (bias against Asian people)</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Gender-Career IAT (bias against women in employment)</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Transgender IAT (bias against trans people)</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a:t>
            </a:r>
          </a:p>
        </p:txBody>
      </p:sp>
      <p:pic>
        <p:nvPicPr>
          <p:cNvPr id="115" name="Picture 6" descr="The Neurocritic: Contest to Reduce Implicit Racial Bias Shows Empathy and  Perspective-Taking Don't Work"/>
          <p:cNvPicPr/>
          <p:nvPr/>
        </p:nvPicPr>
        <p:blipFill>
          <a:blip r:embed="rId3"/>
          <a:stretch/>
        </p:blipFill>
        <p:spPr>
          <a:xfrm>
            <a:off x="8273880" y="0"/>
            <a:ext cx="3917520" cy="6857640"/>
          </a:xfrm>
          <a:prstGeom prst="rect">
            <a:avLst/>
          </a:prstGeom>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Implicit association test</a:t>
            </a:r>
            <a:endParaRPr lang="en-US" sz="3800" b="0" strike="noStrike" spc="-1">
              <a:solidFill>
                <a:srgbClr val="000000"/>
              </a:solidFill>
              <a:latin typeface="Calibri"/>
            </a:endParaRPr>
          </a:p>
        </p:txBody>
      </p:sp>
      <p:sp>
        <p:nvSpPr>
          <p:cNvPr id="117" name="PlaceHolder 2"/>
          <p:cNvSpPr>
            <a:spLocks noGrp="1"/>
          </p:cNvSpPr>
          <p:nvPr>
            <p:ph/>
          </p:nvPr>
        </p:nvSpPr>
        <p:spPr>
          <a:xfrm>
            <a:off x="838080" y="1825560"/>
            <a:ext cx="719496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The idea behind the IAT is that you have to quickly sort photos of people (e.g., black vs. white people) and good or bad words by pressing the left or right keys on a keyboard.</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The round order is random, but in one round(top figure) you press “left” if you see a photo of a black person or you see a positive word (e.g., “pleasure”), and you press “right” if you see a photo of a white person or a negative word (e.g., “awful”)</a:t>
            </a:r>
          </a:p>
        </p:txBody>
      </p:sp>
      <p:pic>
        <p:nvPicPr>
          <p:cNvPr id="118" name="Picture 6" descr="The Neurocritic: Contest to Reduce Implicit Racial Bias Shows Empathy and  Perspective-Taking Don't Work"/>
          <p:cNvPicPr/>
          <p:nvPr/>
        </p:nvPicPr>
        <p:blipFill>
          <a:blip r:embed="rId2"/>
          <a:stretch/>
        </p:blipFill>
        <p:spPr>
          <a:xfrm>
            <a:off x="8273880" y="0"/>
            <a:ext cx="3917520" cy="6857640"/>
          </a:xfrm>
          <a:prstGeom prst="rect">
            <a:avLst/>
          </a:prstGeom>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Implicit association test</a:t>
            </a:r>
            <a:endParaRPr lang="en-US" sz="3800" b="0" strike="noStrike" spc="-1">
              <a:solidFill>
                <a:srgbClr val="000000"/>
              </a:solidFill>
              <a:latin typeface="Calibri"/>
            </a:endParaRPr>
          </a:p>
        </p:txBody>
      </p:sp>
      <p:sp>
        <p:nvSpPr>
          <p:cNvPr id="120" name="PlaceHolder 2"/>
          <p:cNvSpPr>
            <a:spLocks noGrp="1"/>
          </p:cNvSpPr>
          <p:nvPr>
            <p:ph/>
          </p:nvPr>
        </p:nvSpPr>
        <p:spPr>
          <a:xfrm>
            <a:off x="838080" y="1825560"/>
            <a:ext cx="719496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The round order is random, but in another round (bottom figure) you press “left” if you see a photo of a white person or you see a positive word (e.g., “pleasure”), and you press “right” if you see a photo of a black person or a negative word (e.g., “awful”)</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If you are faster in one round than another, it means you have an implicit association between a group and good/bad.</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Most people are biased and are faster at the bottom scenario than the top scenario.</a:t>
            </a:r>
          </a:p>
          <a:p>
            <a:pPr indent="0">
              <a:lnSpc>
                <a:spcPct val="90000"/>
              </a:lnSpc>
              <a:spcBef>
                <a:spcPts val="1001"/>
              </a:spcBef>
              <a:buNone/>
            </a:pPr>
            <a:endParaRPr lang="en-US" sz="2400" b="0" strike="noStrike" spc="-1">
              <a:solidFill>
                <a:srgbClr val="404040"/>
              </a:solidFill>
              <a:latin typeface="Century Gothic"/>
            </a:endParaRPr>
          </a:p>
        </p:txBody>
      </p:sp>
      <p:pic>
        <p:nvPicPr>
          <p:cNvPr id="121" name="Picture 6" descr="The Neurocritic: Contest to Reduce Implicit Racial Bias Shows Empathy and  Perspective-Taking Don't Work"/>
          <p:cNvPicPr/>
          <p:nvPr/>
        </p:nvPicPr>
        <p:blipFill>
          <a:blip r:embed="rId2"/>
          <a:stretch/>
        </p:blipFill>
        <p:spPr>
          <a:xfrm>
            <a:off x="8273880" y="0"/>
            <a:ext cx="3917520" cy="6857640"/>
          </a:xfrm>
          <a:prstGeom prst="rect">
            <a:avLst/>
          </a:prstGeom>
          <a:ln w="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IAT homework</a:t>
            </a:r>
            <a:endParaRPr lang="en-US" sz="3800" b="0" strike="noStrike" spc="-1">
              <a:solidFill>
                <a:srgbClr val="000000"/>
              </a:solidFill>
              <a:latin typeface="Calibri"/>
            </a:endParaRPr>
          </a:p>
        </p:txBody>
      </p:sp>
      <p:sp>
        <p:nvSpPr>
          <p:cNvPr id="123" name="PlaceHolder 2"/>
          <p:cNvSpPr>
            <a:spLocks noGrp="1"/>
          </p:cNvSpPr>
          <p:nvPr>
            <p:ph/>
          </p:nvPr>
        </p:nvSpPr>
        <p:spPr>
          <a:xfrm>
            <a:off x="838080" y="12531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As an “other activity”, please take an IAT test at </a:t>
            </a:r>
            <a:r>
              <a:rPr lang="en-US" sz="2400" b="0" u="sng" strike="noStrike" spc="-1">
                <a:solidFill>
                  <a:srgbClr val="71C5E8"/>
                </a:solidFill>
                <a:uFillTx/>
                <a:latin typeface="Century Gothic"/>
                <a:hlinkClick r:id="rId2"/>
              </a:rPr>
              <a:t>https://implicit.harvard.edu/implicit/selectatest.html</a:t>
            </a:r>
            <a:endParaRPr lang="en-US" sz="2400" b="0" strike="noStrike" spc="-1">
              <a:solidFill>
                <a:srgbClr val="404040"/>
              </a:solidFill>
              <a:latin typeface="Century Gothic"/>
            </a:endParaRP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My suggestion is to take one or more of the following:</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Race IAT – tests for bias against black people through an association between black/white faces and good/bad words</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Weapons IAT – tests for bias against black people through an association between black/white faces and weapons/harmless objects</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Skin-tone IAT – tests for bias against people with darker skin</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(If you have taken the IAT before then please take one you haven’t taken.)</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As an “other activity”, you’ll anonymously submit a very short reflection statement after completing the IAT.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838080" y="113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Audit Field experiments</a:t>
            </a:r>
            <a:endParaRPr lang="en-US" sz="3800" b="0" strike="noStrike" spc="-1">
              <a:solidFill>
                <a:srgbClr val="000000"/>
              </a:solidFill>
              <a:latin typeface="Calibri"/>
            </a:endParaRPr>
          </a:p>
        </p:txBody>
      </p:sp>
      <p:sp>
        <p:nvSpPr>
          <p:cNvPr id="125" name="PlaceHolder 2"/>
          <p:cNvSpPr>
            <a:spLocks noGrp="1"/>
          </p:cNvSpPr>
          <p:nvPr>
            <p:ph/>
          </p:nvPr>
        </p:nvSpPr>
        <p:spPr>
          <a:xfrm>
            <a:off x="838080" y="1172520"/>
            <a:ext cx="6716520" cy="199764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Also called audit studies.</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Also called correspondence studies when they involve sending “correspondence” (email, mail).</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My speciality!</a:t>
            </a:r>
          </a:p>
        </p:txBody>
      </p:sp>
      <p:pic>
        <p:nvPicPr>
          <p:cNvPr id="126" name="Picture 2" descr="Study suggests researchers look more closely at connections between names  and race"/>
          <p:cNvPicPr/>
          <p:nvPr/>
        </p:nvPicPr>
        <p:blipFill>
          <a:blip r:embed="rId2"/>
          <a:stretch/>
        </p:blipFill>
        <p:spPr>
          <a:xfrm>
            <a:off x="7679160" y="113040"/>
            <a:ext cx="4512600" cy="2996640"/>
          </a:xfrm>
          <a:prstGeom prst="rect">
            <a:avLst/>
          </a:prstGeom>
          <a:ln w="0">
            <a:noFill/>
          </a:ln>
        </p:spPr>
      </p:pic>
      <p:sp>
        <p:nvSpPr>
          <p:cNvPr id="127" name="TextBox 3"/>
          <p:cNvSpPr/>
          <p:nvPr/>
        </p:nvSpPr>
        <p:spPr>
          <a:xfrm>
            <a:off x="838080" y="3312720"/>
            <a:ext cx="11002320" cy="3015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343080">
              <a:lnSpc>
                <a:spcPct val="100000"/>
              </a:lnSpc>
              <a:buClr>
                <a:srgbClr val="000000"/>
              </a:buClr>
              <a:buFont typeface="Arial"/>
              <a:buChar char="•"/>
            </a:pPr>
            <a:r>
              <a:rPr lang="en-US" sz="2400" b="0" strike="noStrike" spc="-1">
                <a:solidFill>
                  <a:srgbClr val="000000"/>
                </a:solidFill>
                <a:latin typeface="Century Gothic"/>
              </a:rPr>
              <a:t>These are experiments in real life (the “field”).</a:t>
            </a:r>
            <a:endParaRPr lang="en-US" sz="2400" b="0" strike="noStrike" spc="-1">
              <a:solidFill>
                <a:srgbClr val="000000"/>
              </a:solidFill>
              <a:latin typeface="Arial"/>
            </a:endParaRPr>
          </a:p>
          <a:p>
            <a:pPr marL="343080" indent="-343080">
              <a:lnSpc>
                <a:spcPct val="100000"/>
              </a:lnSpc>
              <a:buClr>
                <a:srgbClr val="000000"/>
              </a:buClr>
              <a:buFont typeface="Arial"/>
              <a:buChar char="•"/>
            </a:pPr>
            <a:r>
              <a:rPr lang="en-US" sz="2400" b="0" strike="noStrike" spc="-1">
                <a:solidFill>
                  <a:srgbClr val="000000"/>
                </a:solidFill>
                <a:latin typeface="Century Gothic"/>
              </a:rPr>
              <a:t>Most commonly these are resume correspondence studies, where researchers study hiring discrimination by applying to jobs with minority and non-minority candidates.</a:t>
            </a:r>
            <a:endParaRPr lang="en-US" sz="2400" b="0" strike="noStrike" spc="-1">
              <a:solidFill>
                <a:srgbClr val="000000"/>
              </a:solidFill>
              <a:latin typeface="Arial"/>
            </a:endParaRPr>
          </a:p>
          <a:p>
            <a:pPr marL="343080" indent="-343080">
              <a:lnSpc>
                <a:spcPct val="100000"/>
              </a:lnSpc>
              <a:buClr>
                <a:srgbClr val="000000"/>
              </a:buClr>
              <a:buFont typeface="Arial"/>
              <a:buChar char="•"/>
            </a:pPr>
            <a:r>
              <a:rPr lang="en-US" sz="2400" b="0" strike="noStrike" spc="-1">
                <a:solidFill>
                  <a:srgbClr val="000000"/>
                </a:solidFill>
                <a:latin typeface="Century Gothic"/>
              </a:rPr>
              <a:t>All applicants are on-average identical.</a:t>
            </a:r>
            <a:endParaRPr lang="en-US" sz="2400" b="0" strike="noStrike" spc="-1">
              <a:solidFill>
                <a:srgbClr val="000000"/>
              </a:solidFill>
              <a:latin typeface="Arial"/>
            </a:endParaRPr>
          </a:p>
          <a:p>
            <a:pPr marL="343080" indent="-343080">
              <a:lnSpc>
                <a:spcPct val="100000"/>
              </a:lnSpc>
              <a:buClr>
                <a:srgbClr val="000000"/>
              </a:buClr>
              <a:buFont typeface="Arial"/>
              <a:buChar char="•"/>
            </a:pPr>
            <a:r>
              <a:rPr lang="en-US" sz="2400" b="0" strike="noStrike" spc="-1">
                <a:solidFill>
                  <a:srgbClr val="000000"/>
                </a:solidFill>
                <a:latin typeface="Century Gothic"/>
              </a:rPr>
              <a:t>In rare cases, sometimes the researcher will hire people to go to the interviews (examples later)</a:t>
            </a:r>
            <a:endParaRPr lang="en-US" sz="2400" b="0" strike="noStrike" spc="-1">
              <a:solidFill>
                <a:srgbClr val="000000"/>
              </a:solidFill>
              <a:latin typeface="Arial"/>
            </a:endParaRPr>
          </a:p>
          <a:p>
            <a:pPr>
              <a:lnSpc>
                <a:spcPct val="100000"/>
              </a:lnSpc>
            </a:pPr>
            <a:endParaRPr lang="en-US" sz="2400" b="0" strike="noStrike" spc="-1">
              <a:solidFill>
                <a:srgbClr val="000000"/>
              </a:solidFill>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838080" y="113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Why Audit Field experiments?</a:t>
            </a:r>
            <a:endParaRPr lang="en-US" sz="3800" b="0" strike="noStrike" spc="-1">
              <a:solidFill>
                <a:srgbClr val="000000"/>
              </a:solidFill>
              <a:latin typeface="Calibri"/>
            </a:endParaRPr>
          </a:p>
        </p:txBody>
      </p:sp>
      <p:sp>
        <p:nvSpPr>
          <p:cNvPr id="129" name="PlaceHolder 2"/>
          <p:cNvSpPr>
            <a:spLocks noGrp="1"/>
          </p:cNvSpPr>
          <p:nvPr>
            <p:ph/>
          </p:nvPr>
        </p:nvSpPr>
        <p:spPr>
          <a:xfrm>
            <a:off x="838080" y="1172520"/>
            <a:ext cx="567648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Having the applicants (“testers”) be on-average identical allows the researcher to isolate discrimination just like in a randomized control trial (RCT).</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Discrimination is measured as differences in the interview offer rates (usually referred to as the “callback rate”), or, in other studies, the positive response rate.</a:t>
            </a:r>
          </a:p>
        </p:txBody>
      </p:sp>
      <p:pic>
        <p:nvPicPr>
          <p:cNvPr id="130" name="Picture 2" descr="Study suggests researchers look more closely at connections between names  and race"/>
          <p:cNvPicPr/>
          <p:nvPr/>
        </p:nvPicPr>
        <p:blipFill>
          <a:blip r:embed="rId2"/>
          <a:stretch/>
        </p:blipFill>
        <p:spPr>
          <a:xfrm>
            <a:off x="6787800" y="1283760"/>
            <a:ext cx="5403960" cy="3588480"/>
          </a:xfrm>
          <a:prstGeom prst="rect">
            <a:avLst/>
          </a:prstGeom>
          <a:ln w="0">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Example: Neumark, Burn, and Button (2019)</a:t>
            </a:r>
            <a:endParaRPr lang="en-US" sz="3800" b="0" strike="noStrike" spc="-1">
              <a:solidFill>
                <a:srgbClr val="000000"/>
              </a:solidFill>
              <a:latin typeface="Calibri"/>
            </a:endParaRPr>
          </a:p>
        </p:txBody>
      </p:sp>
      <p:sp>
        <p:nvSpPr>
          <p:cNvPr id="132" name="PlaceHolder 2"/>
          <p:cNvSpPr>
            <a:spLocks noGrp="1"/>
          </p:cNvSpPr>
          <p:nvPr>
            <p:ph/>
          </p:nvPr>
        </p:nvSpPr>
        <p:spPr>
          <a:xfrm>
            <a:off x="838080" y="18255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800" b="0" strike="noStrike" spc="-1">
                <a:solidFill>
                  <a:srgbClr val="404040"/>
                </a:solidFill>
                <a:latin typeface="Century Gothic"/>
              </a:rPr>
              <a:t>Largest resume study to date, over 40,000 resumes sent to 13,000 jobs in 12 cities.</a:t>
            </a:r>
          </a:p>
          <a:p>
            <a:pPr marL="228600" indent="-228600">
              <a:lnSpc>
                <a:spcPct val="90000"/>
              </a:lnSpc>
              <a:spcBef>
                <a:spcPts val="1001"/>
              </a:spcBef>
              <a:buClr>
                <a:srgbClr val="404040"/>
              </a:buClr>
              <a:buFont typeface="Arial"/>
              <a:buChar char="•"/>
            </a:pPr>
            <a:r>
              <a:rPr lang="en-US" sz="2800" b="0" strike="noStrike" spc="-1">
                <a:solidFill>
                  <a:srgbClr val="404040"/>
                </a:solidFill>
                <a:latin typeface="Century Gothic"/>
              </a:rPr>
              <a:t>Studies hiring in common “bridge” jobs that older workers often take to delay retirement: retail sales (men and women), admin. assistant (women), janitor (men), security (men)</a:t>
            </a:r>
          </a:p>
          <a:p>
            <a:pPr marL="685800" lvl="1" indent="-228600">
              <a:lnSpc>
                <a:spcPct val="90000"/>
              </a:lnSpc>
              <a:spcBef>
                <a:spcPts val="499"/>
              </a:spcBef>
              <a:buClr>
                <a:srgbClr val="404040"/>
              </a:buClr>
              <a:buFont typeface="Arial"/>
              <a:buChar char="•"/>
            </a:pPr>
            <a:r>
              <a:rPr lang="en-US" sz="2400" b="0" strike="noStrike" spc="-1">
                <a:solidFill>
                  <a:srgbClr val="404040"/>
                </a:solidFill>
                <a:latin typeface="Century Gothic"/>
              </a:rPr>
              <a:t>Younger people also commonly take these jobs.</a:t>
            </a:r>
          </a:p>
          <a:p>
            <a:pPr marL="228600" indent="-228600">
              <a:lnSpc>
                <a:spcPct val="90000"/>
              </a:lnSpc>
              <a:spcBef>
                <a:spcPts val="1001"/>
              </a:spcBef>
              <a:buClr>
                <a:srgbClr val="404040"/>
              </a:buClr>
              <a:buFont typeface="Arial"/>
              <a:buChar char="•"/>
            </a:pPr>
            <a:r>
              <a:rPr lang="en-US" sz="2800" b="0" strike="noStrike" spc="-1">
                <a:solidFill>
                  <a:srgbClr val="404040"/>
                </a:solidFill>
                <a:latin typeface="Century Gothic"/>
              </a:rPr>
              <a:t>Resumes were for young (age 30), middle age (50) and older (65). Age 65 is new to the literature.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Interview (“Callback”) Rates</a:t>
            </a:r>
            <a:endParaRPr lang="en-US" sz="3800" b="0" strike="noStrike" spc="-1">
              <a:solidFill>
                <a:srgbClr val="000000"/>
              </a:solidFill>
              <a:latin typeface="Calibri"/>
            </a:endParaRPr>
          </a:p>
        </p:txBody>
      </p:sp>
      <p:pic>
        <p:nvPicPr>
          <p:cNvPr id="134" name="Picture 3" descr="hart shows Comparison of job applicant callback rates by age"/>
          <p:cNvPicPr/>
          <p:nvPr/>
        </p:nvPicPr>
        <p:blipFill>
          <a:blip r:embed="rId2"/>
          <a:stretch/>
        </p:blipFill>
        <p:spPr>
          <a:xfrm>
            <a:off x="2209680" y="1752480"/>
            <a:ext cx="7772040" cy="4400640"/>
          </a:xfrm>
          <a:prstGeom prst="rect">
            <a:avLst/>
          </a:prstGeom>
          <a:ln w="0">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Audit field experiments - Housing</a:t>
            </a:r>
            <a:endParaRPr lang="en-US" sz="3800" b="0" strike="noStrike" spc="-1">
              <a:solidFill>
                <a:srgbClr val="000000"/>
              </a:solidFill>
              <a:latin typeface="Calibri"/>
            </a:endParaRPr>
          </a:p>
        </p:txBody>
      </p:sp>
      <p:sp>
        <p:nvSpPr>
          <p:cNvPr id="136" name="PlaceHolder 2"/>
          <p:cNvSpPr>
            <a:spLocks noGrp="1"/>
          </p:cNvSpPr>
          <p:nvPr>
            <p:ph/>
          </p:nvPr>
        </p:nvSpPr>
        <p:spPr>
          <a:xfrm>
            <a:off x="838080" y="18255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In addition to resume correspondence studies, which send matched resumes, there are also audit field experiments that study discrimination in…</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Rental housing </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(emails to landlords, roommate wanted ads)</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Mortgage applications </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(emails to mortgage loan originators, I have a study I am working on on this that you’ll hear more about later)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Audit field experiments - Transportation</a:t>
            </a:r>
            <a:endParaRPr lang="en-US" sz="3800" b="0" strike="noStrike" spc="-1">
              <a:solidFill>
                <a:srgbClr val="000000"/>
              </a:solidFill>
              <a:latin typeface="Calibri"/>
            </a:endParaRPr>
          </a:p>
        </p:txBody>
      </p:sp>
      <p:sp>
        <p:nvSpPr>
          <p:cNvPr id="138" name="PlaceHolder 2"/>
          <p:cNvSpPr>
            <a:spLocks noGrp="1"/>
          </p:cNvSpPr>
          <p:nvPr>
            <p:ph/>
          </p:nvPr>
        </p:nvSpPr>
        <p:spPr>
          <a:xfrm>
            <a:off x="838080" y="18255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In addition to resume correspondence studies, which send matched resumes, there are also audit field experiments that study discrimination in…</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Ridesharing (Uber/Lyft)</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Mujcic and Frijters (2020) hired white and black RAs to attempt to board public transift without paying (i.e., they’d mention that they couldn’t pay). Bus drivers let white RAs board 72% of the time but black RAs only 36% of the time.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838080" y="365040"/>
            <a:ext cx="10515240" cy="1325160"/>
          </a:xfrm>
          <a:prstGeom prst="rect">
            <a:avLst/>
          </a:prstGeom>
          <a:noFill/>
          <a:ln w="0">
            <a:noFill/>
          </a:ln>
        </p:spPr>
        <p:txBody>
          <a:bodyPr numCol="1" spcCol="0" anchor="ctr">
            <a:noAutofit/>
          </a:bodyPr>
          <a:lstStyle/>
          <a:p>
            <a:pPr indent="0">
              <a:lnSpc>
                <a:spcPct val="90000"/>
              </a:lnSpc>
              <a:buNone/>
            </a:pPr>
            <a:r>
              <a:rPr lang="en-US" sz="3800" b="0" strike="noStrike" cap="all" spc="-1">
                <a:solidFill>
                  <a:srgbClr val="265B4D"/>
                </a:solidFill>
                <a:latin typeface="Century Gothic"/>
              </a:rPr>
              <a:t>Audit field experiments - Transportation</a:t>
            </a:r>
            <a:endParaRPr lang="en-US" sz="3800" b="0" strike="noStrike" spc="-1">
              <a:solidFill>
                <a:srgbClr val="000000"/>
              </a:solidFill>
              <a:latin typeface="Calibri"/>
            </a:endParaRPr>
          </a:p>
        </p:txBody>
      </p:sp>
      <p:sp>
        <p:nvSpPr>
          <p:cNvPr id="140" name="PlaceHolder 2"/>
          <p:cNvSpPr>
            <a:spLocks noGrp="1"/>
          </p:cNvSpPr>
          <p:nvPr>
            <p:ph/>
          </p:nvPr>
        </p:nvSpPr>
        <p:spPr>
          <a:xfrm>
            <a:off x="838080" y="1825560"/>
            <a:ext cx="10515240" cy="4350960"/>
          </a:xfrm>
          <a:prstGeom prst="rect">
            <a:avLst/>
          </a:prstGeom>
          <a:noFill/>
          <a:ln w="0">
            <a:noFill/>
          </a:ln>
        </p:spPr>
        <p:txBody>
          <a:bodyPr numCol="1" spcCol="0" anchor="t">
            <a:noAutofit/>
          </a:bodyPr>
          <a:lstStyle/>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In addition to resume correspondence studies, which send matched resumes, there are also audit field experiments that study discrimination in…</a:t>
            </a:r>
          </a:p>
          <a:p>
            <a:pPr marL="228600" indent="-228600">
              <a:lnSpc>
                <a:spcPct val="90000"/>
              </a:lnSpc>
              <a:spcBef>
                <a:spcPts val="1001"/>
              </a:spcBef>
              <a:buClr>
                <a:srgbClr val="404040"/>
              </a:buClr>
              <a:buFont typeface="Arial"/>
              <a:buChar char="•"/>
            </a:pPr>
            <a:r>
              <a:rPr lang="en-US" sz="2400" b="0" strike="noStrike" spc="-1">
                <a:solidFill>
                  <a:srgbClr val="404040"/>
                </a:solidFill>
                <a:latin typeface="Century Gothic"/>
              </a:rPr>
              <a:t>Public Transportation</a:t>
            </a:r>
          </a:p>
          <a:p>
            <a:pPr marL="685800" lvl="1" indent="-228600">
              <a:lnSpc>
                <a:spcPct val="90000"/>
              </a:lnSpc>
              <a:spcBef>
                <a:spcPts val="499"/>
              </a:spcBef>
              <a:buClr>
                <a:srgbClr val="404040"/>
              </a:buClr>
              <a:buFont typeface="Arial"/>
              <a:buChar char="•"/>
            </a:pPr>
            <a:r>
              <a:rPr lang="en-US" sz="2000" b="0" strike="noStrike" spc="-1">
                <a:solidFill>
                  <a:srgbClr val="404040"/>
                </a:solidFill>
                <a:latin typeface="Century Gothic"/>
              </a:rPr>
              <a:t>Ge et al. (2020) “In a randomized audit study, we sent passengers in Boston, MA on nearly 1000 rides on controlled routes using the Uber and Lyft smartphone apps, recording key performance metrics. Passengers randomly selected between accounts that used African American-sounding and white-sounding names. We find that the probability an Uber driver accepts a ride, sees the name, and then cancels doubles when passengers used the account attached to the African American-sounding name. In contrast, Lyft drivers observe the name before accepting a ride and, as expected, we find no effect of name on cancellations.”</a:t>
            </a:r>
          </a:p>
        </p:txBody>
      </p:sp>
    </p:spTree>
  </p:cSld>
  <p:clrMapOvr>
    <a:masterClrMapping/>
  </p:clrMapOvr>
</p:sld>
</file>

<file path=ppt/theme/theme1.xml><?xml version="1.0" encoding="utf-8"?>
<a:theme xmlns:a="http://schemas.openxmlformats.org/drawingml/2006/main" name="Office Theme">
  <a:themeElements>
    <a:clrScheme name="Custom 12">
      <a:dk1>
        <a:srgbClr val="000000"/>
      </a:dk1>
      <a:lt1>
        <a:srgbClr val="FFFFFF"/>
      </a:lt1>
      <a:dk2>
        <a:srgbClr val="404040"/>
      </a:dk2>
      <a:lt2>
        <a:srgbClr val="E7E6E6"/>
      </a:lt2>
      <a:accent1>
        <a:srgbClr val="71C5E8"/>
      </a:accent1>
      <a:accent2>
        <a:srgbClr val="285C4D"/>
      </a:accent2>
      <a:accent3>
        <a:srgbClr val="A5A5A5"/>
      </a:accent3>
      <a:accent4>
        <a:srgbClr val="B9D9EB"/>
      </a:accent4>
      <a:accent5>
        <a:srgbClr val="DAAA00"/>
      </a:accent5>
      <a:accent6>
        <a:srgbClr val="78BE20"/>
      </a:accent6>
      <a:hlink>
        <a:srgbClr val="71C5E8"/>
      </a:hlink>
      <a:folHlink>
        <a:srgbClr val="A5A5A5"/>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Custom 12">
      <a:dk1>
        <a:srgbClr val="000000"/>
      </a:dk1>
      <a:lt1>
        <a:srgbClr val="FFFFFF"/>
      </a:lt1>
      <a:dk2>
        <a:srgbClr val="404040"/>
      </a:dk2>
      <a:lt2>
        <a:srgbClr val="E7E6E6"/>
      </a:lt2>
      <a:accent1>
        <a:srgbClr val="71C5E8"/>
      </a:accent1>
      <a:accent2>
        <a:srgbClr val="285C4D"/>
      </a:accent2>
      <a:accent3>
        <a:srgbClr val="A5A5A5"/>
      </a:accent3>
      <a:accent4>
        <a:srgbClr val="B9D9EB"/>
      </a:accent4>
      <a:accent5>
        <a:srgbClr val="DAAA00"/>
      </a:accent5>
      <a:accent6>
        <a:srgbClr val="78BE20"/>
      </a:accent6>
      <a:hlink>
        <a:srgbClr val="71C5E8"/>
      </a:hlink>
      <a:folHlink>
        <a:srgbClr val="A5A5A5"/>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04040"/>
      </a:dk2>
      <a:lt2>
        <a:srgbClr val="E7E6E6"/>
      </a:lt2>
      <a:accent1>
        <a:srgbClr val="71C5E8"/>
      </a:accent1>
      <a:accent2>
        <a:srgbClr val="285C4D"/>
      </a:accent2>
      <a:accent3>
        <a:srgbClr val="A5A5A5"/>
      </a:accent3>
      <a:accent4>
        <a:srgbClr val="B9D9EB"/>
      </a:accent4>
      <a:accent5>
        <a:srgbClr val="DAAA00"/>
      </a:accent5>
      <a:accent6>
        <a:srgbClr val="78BE20"/>
      </a:accent6>
      <a:hlink>
        <a:srgbClr val="71C5E8"/>
      </a:hlink>
      <a:folHlink>
        <a:srgbClr val="A5A5A5"/>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2281</TotalTime>
  <Words>1989</Words>
  <Application>Microsoft Macintosh PowerPoint</Application>
  <PresentationFormat>Widescreen</PresentationFormat>
  <Paragraphs>130</Paragraphs>
  <Slides>24</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24</vt:i4>
      </vt:variant>
    </vt:vector>
  </HeadingPairs>
  <TitlesOfParts>
    <vt:vector size="32" baseType="lpstr">
      <vt:lpstr>Arial</vt:lpstr>
      <vt:lpstr>Calibri</vt:lpstr>
      <vt:lpstr>Century Gothic</vt:lpstr>
      <vt:lpstr>Symbol</vt:lpstr>
      <vt:lpstr>Times New Roman</vt:lpstr>
      <vt:lpstr>Wingdings</vt:lpstr>
      <vt:lpstr>Office Theme</vt:lpstr>
      <vt:lpstr>Office Theme</vt:lpstr>
      <vt:lpstr>PowerPoint Presentation</vt:lpstr>
      <vt:lpstr>Outline</vt:lpstr>
      <vt:lpstr>What is discrimination?</vt:lpstr>
      <vt:lpstr>Types of discrimination</vt:lpstr>
      <vt:lpstr>Taste-Based Discrimination – “Animus”</vt:lpstr>
      <vt:lpstr>Taste-Based Discrimination – “Animus”</vt:lpstr>
      <vt:lpstr>Statistical discrimination</vt:lpstr>
      <vt:lpstr>Statistical discrimination</vt:lpstr>
      <vt:lpstr>Statistical discrimination - Employment</vt:lpstr>
      <vt:lpstr>Statistical discrimination - Housing</vt:lpstr>
      <vt:lpstr>Statistical discrimination - Policing</vt:lpstr>
      <vt:lpstr>Implicit Discrimination</vt:lpstr>
      <vt:lpstr>Implicit bias is pervasive</vt:lpstr>
      <vt:lpstr>Implicit association test</vt:lpstr>
      <vt:lpstr>Implicit association test</vt:lpstr>
      <vt:lpstr>Implicit association test</vt:lpstr>
      <vt:lpstr>IAT homework</vt:lpstr>
      <vt:lpstr>Audit Field experiments</vt:lpstr>
      <vt:lpstr>Why Audit Field experiments?</vt:lpstr>
      <vt:lpstr>Example: Neumark, Burn, and Button (2019)</vt:lpstr>
      <vt:lpstr>Interview (“Callback”) Rates</vt:lpstr>
      <vt:lpstr>Audit field experiments - Housing</vt:lpstr>
      <vt:lpstr>Audit field experiments - Transportation</vt:lpstr>
      <vt:lpstr>Audit field experiments - Transportation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 sample title</dc:title>
  <dc:subject/>
  <dc:creator>Microsoft Office User</dc:creator>
  <dc:description/>
  <cp:lastModifiedBy>Hadah, Hussain</cp:lastModifiedBy>
  <cp:revision>145</cp:revision>
  <cp:lastPrinted>2017-03-15T17:14:36Z</cp:lastPrinted>
  <dcterms:created xsi:type="dcterms:W3CDTF">2017-02-22T17:33:23Z</dcterms:created>
  <dcterms:modified xsi:type="dcterms:W3CDTF">2025-03-13T17:06:38Z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Widescreen</vt:lpwstr>
  </property>
  <property fmtid="{D5CDD505-2E9C-101B-9397-08002B2CF9AE}" pid="4" name="Slides">
    <vt:i4>24</vt:i4>
  </property>
</Properties>
</file>